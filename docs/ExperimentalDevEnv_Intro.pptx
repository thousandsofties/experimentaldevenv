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5029200" cy="685800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37160" cy="685800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892040" y="0"/>
            <a:ext cx="137160" cy="68580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274320" y="457200"/>
            <a:ext cx="4114800" cy="457200"/>
          </a:xfrm>
          <a:prstGeom prst="rect">
            <a:avLst/>
          </a:prstGeom>
          <a:noFill/>
        </p:spPr>
        <p:txBody>
          <a:bodyPr wrap="square">
            <a:spAutoFit/>
          </a:bodyPr>
          <a:lstStyle/>
          <a:p>
            <a:pPr algn="l"/>
            <a:r>
              <a:rPr sz="1300" b="0" i="0">
                <a:solidFill>
                  <a:srgbClr val="00C8FF"/>
                </a:solidFill>
                <a:latin typeface="Arial"/>
              </a:rPr>
              <a:t>PoC / 技術提案</a:t>
            </a:r>
          </a:p>
        </p:txBody>
      </p:sp>
      <p:sp>
        <p:nvSpPr>
          <p:cNvPr id="6" name="TextBox 5"/>
          <p:cNvSpPr txBox="1"/>
          <p:nvPr/>
        </p:nvSpPr>
        <p:spPr>
          <a:xfrm>
            <a:off x="274320" y="1097280"/>
            <a:ext cx="4389120" cy="1828800"/>
          </a:xfrm>
          <a:prstGeom prst="rect">
            <a:avLst/>
          </a:prstGeom>
          <a:noFill/>
        </p:spPr>
        <p:txBody>
          <a:bodyPr wrap="square">
            <a:spAutoFit/>
          </a:bodyPr>
          <a:lstStyle/>
          <a:p>
            <a:pPr algn="l"/>
            <a:r>
              <a:rPr sz="3600" b="1">
                <a:solidFill>
                  <a:srgbClr val="FFFFFF"/>
                </a:solidFill>
                <a:latin typeface="Arial"/>
              </a:rPr>
              <a:t>クラウドネイティブ</a:t>
            </a:r>
          </a:p>
          <a:p>
            <a:pPr algn="l"/>
            <a:r>
              <a:rPr sz="3600" b="1">
                <a:solidFill>
                  <a:srgbClr val="FFFFFF"/>
                </a:solidFill>
                <a:latin typeface="Arial"/>
              </a:rPr>
              <a:t>組み込み開発環境</a:t>
            </a:r>
          </a:p>
        </p:txBody>
      </p:sp>
      <p:sp>
        <p:nvSpPr>
          <p:cNvPr id="7" name="TextBox 6"/>
          <p:cNvSpPr txBox="1"/>
          <p:nvPr/>
        </p:nvSpPr>
        <p:spPr>
          <a:xfrm>
            <a:off x="274320" y="2743200"/>
            <a:ext cx="4572000" cy="1280160"/>
          </a:xfrm>
          <a:prstGeom prst="rect">
            <a:avLst/>
          </a:prstGeom>
          <a:noFill/>
        </p:spPr>
        <p:txBody>
          <a:bodyPr wrap="square">
            <a:spAutoFit/>
          </a:bodyPr>
          <a:lstStyle/>
          <a:p>
            <a:pPr algn="l"/>
            <a:r>
              <a:rPr sz="1800" b="0" i="1">
                <a:solidFill>
                  <a:srgbClr val="B0C4DE"/>
                </a:solidFill>
                <a:latin typeface="Arial"/>
              </a:rPr>
              <a:t>〜 AIと自動化で変わる
  ハードウェア開発の新常識 〜</a:t>
            </a:r>
          </a:p>
        </p:txBody>
      </p:sp>
      <p:sp>
        <p:nvSpPr>
          <p:cNvPr id="8" name="Rectangle 7"/>
          <p:cNvSpPr/>
          <p:nvPr/>
        </p:nvSpPr>
        <p:spPr>
          <a:xfrm>
            <a:off x="5486400" y="1371600"/>
            <a:ext cx="6217920" cy="118872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5486400" y="1371600"/>
            <a:ext cx="137160" cy="118872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760720" y="1508760"/>
            <a:ext cx="5669280" cy="457200"/>
          </a:xfrm>
          <a:prstGeom prst="rect">
            <a:avLst/>
          </a:prstGeom>
          <a:noFill/>
        </p:spPr>
        <p:txBody>
          <a:bodyPr wrap="square">
            <a:spAutoFit/>
          </a:bodyPr>
          <a:lstStyle/>
          <a:p>
            <a:pPr algn="l"/>
            <a:r>
              <a:rPr sz="1600" b="1" i="0">
                <a:solidFill>
                  <a:srgbClr val="00C8FF"/>
                </a:solidFill>
                <a:latin typeface="Arial"/>
              </a:rPr>
              <a:t>☁  GitHub Codespaces</a:t>
            </a:r>
          </a:p>
        </p:txBody>
      </p:sp>
      <p:sp>
        <p:nvSpPr>
          <p:cNvPr id="11" name="TextBox 10"/>
          <p:cNvSpPr txBox="1"/>
          <p:nvPr/>
        </p:nvSpPr>
        <p:spPr>
          <a:xfrm>
            <a:off x="5760720" y="1965960"/>
            <a:ext cx="5669280" cy="365760"/>
          </a:xfrm>
          <a:prstGeom prst="rect">
            <a:avLst/>
          </a:prstGeom>
          <a:noFill/>
        </p:spPr>
        <p:txBody>
          <a:bodyPr wrap="square">
            <a:spAutoFit/>
          </a:bodyPr>
          <a:lstStyle/>
          <a:p>
            <a:pPr algn="l"/>
            <a:r>
              <a:rPr sz="1300" b="0" i="0">
                <a:solidFill>
                  <a:srgbClr val="B0C4DE"/>
                </a:solidFill>
                <a:latin typeface="Arial"/>
              </a:rPr>
              <a:t>クロスコンパイル環境</a:t>
            </a:r>
          </a:p>
        </p:txBody>
      </p:sp>
      <p:sp>
        <p:nvSpPr>
          <p:cNvPr id="12" name="TextBox 11"/>
          <p:cNvSpPr txBox="1"/>
          <p:nvPr/>
        </p:nvSpPr>
        <p:spPr>
          <a:xfrm>
            <a:off x="8412480" y="2560320"/>
            <a:ext cx="457200" cy="274320"/>
          </a:xfrm>
          <a:prstGeom prst="rect">
            <a:avLst/>
          </a:prstGeom>
          <a:noFill/>
        </p:spPr>
        <p:txBody>
          <a:bodyPr wrap="square">
            <a:spAutoFit/>
          </a:bodyPr>
          <a:lstStyle/>
          <a:p>
            <a:pPr algn="ctr"/>
            <a:r>
              <a:rPr sz="1800" b="0" i="0">
                <a:solidFill>
                  <a:srgbClr val="00C8FF"/>
                </a:solidFill>
                <a:latin typeface="Arial"/>
              </a:rPr>
              <a:t>↓</a:t>
            </a:r>
          </a:p>
        </p:txBody>
      </p:sp>
      <p:sp>
        <p:nvSpPr>
          <p:cNvPr id="13" name="Rectangle 12"/>
          <p:cNvSpPr/>
          <p:nvPr/>
        </p:nvSpPr>
        <p:spPr>
          <a:xfrm>
            <a:off x="5486400" y="2926080"/>
            <a:ext cx="6217920" cy="118872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5486400" y="2926080"/>
            <a:ext cx="137160" cy="1188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760720" y="3063240"/>
            <a:ext cx="5669280" cy="457200"/>
          </a:xfrm>
          <a:prstGeom prst="rect">
            <a:avLst/>
          </a:prstGeom>
          <a:noFill/>
        </p:spPr>
        <p:txBody>
          <a:bodyPr wrap="square">
            <a:spAutoFit/>
          </a:bodyPr>
          <a:lstStyle/>
          <a:p>
            <a:pPr algn="l"/>
            <a:r>
              <a:rPr sz="1600" b="1" i="0">
                <a:solidFill>
                  <a:srgbClr val="7C3AED"/>
                </a:solidFill>
                <a:latin typeface="Arial"/>
              </a:rPr>
              <a:t>⚡  AWS EC2 Graviton</a:t>
            </a:r>
          </a:p>
        </p:txBody>
      </p:sp>
      <p:sp>
        <p:nvSpPr>
          <p:cNvPr id="16" name="TextBox 15"/>
          <p:cNvSpPr txBox="1"/>
          <p:nvPr/>
        </p:nvSpPr>
        <p:spPr>
          <a:xfrm>
            <a:off x="5760720" y="3520440"/>
            <a:ext cx="5669280" cy="365760"/>
          </a:xfrm>
          <a:prstGeom prst="rect">
            <a:avLst/>
          </a:prstGeom>
          <a:noFill/>
        </p:spPr>
        <p:txBody>
          <a:bodyPr wrap="square">
            <a:spAutoFit/>
          </a:bodyPr>
          <a:lstStyle/>
          <a:p>
            <a:pPr algn="l"/>
            <a:r>
              <a:rPr sz="1300" b="0" i="0">
                <a:solidFill>
                  <a:srgbClr val="B0C4DE"/>
                </a:solidFill>
                <a:latin typeface="Arial"/>
              </a:rPr>
              <a:t>ARM64 クラウドシミュレーション</a:t>
            </a:r>
          </a:p>
        </p:txBody>
      </p:sp>
      <p:sp>
        <p:nvSpPr>
          <p:cNvPr id="17" name="TextBox 16"/>
          <p:cNvSpPr txBox="1"/>
          <p:nvPr/>
        </p:nvSpPr>
        <p:spPr>
          <a:xfrm>
            <a:off x="8412480" y="4114800"/>
            <a:ext cx="457200" cy="274320"/>
          </a:xfrm>
          <a:prstGeom prst="rect">
            <a:avLst/>
          </a:prstGeom>
          <a:noFill/>
        </p:spPr>
        <p:txBody>
          <a:bodyPr wrap="square">
            <a:spAutoFit/>
          </a:bodyPr>
          <a:lstStyle/>
          <a:p>
            <a:pPr algn="ctr"/>
            <a:r>
              <a:rPr sz="1800" b="0" i="0">
                <a:solidFill>
                  <a:srgbClr val="00C8FF"/>
                </a:solidFill>
                <a:latin typeface="Arial"/>
              </a:rPr>
              <a:t>↓</a:t>
            </a:r>
          </a:p>
        </p:txBody>
      </p:sp>
      <p:sp>
        <p:nvSpPr>
          <p:cNvPr id="18" name="Rectangle 17"/>
          <p:cNvSpPr/>
          <p:nvPr/>
        </p:nvSpPr>
        <p:spPr>
          <a:xfrm>
            <a:off x="5486400" y="4480560"/>
            <a:ext cx="6217920" cy="118872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5486400" y="4480560"/>
            <a:ext cx="137160" cy="1188720"/>
          </a:xfrm>
          <a:prstGeom prst="rect">
            <a:avLst/>
          </a:prstGeom>
          <a:solidFill>
            <a:srgbClr val="00E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760720" y="4617720"/>
            <a:ext cx="5669280" cy="457200"/>
          </a:xfrm>
          <a:prstGeom prst="rect">
            <a:avLst/>
          </a:prstGeom>
          <a:noFill/>
        </p:spPr>
        <p:txBody>
          <a:bodyPr wrap="square">
            <a:spAutoFit/>
          </a:bodyPr>
          <a:lstStyle/>
          <a:p>
            <a:pPr algn="l"/>
            <a:r>
              <a:rPr sz="1600" b="1" i="0">
                <a:solidFill>
                  <a:srgbClr val="00E09E"/>
                </a:solidFill>
                <a:latin typeface="Arial"/>
              </a:rPr>
              <a:t>🔧  Raspberry Pi 5</a:t>
            </a:r>
          </a:p>
        </p:txBody>
      </p:sp>
      <p:sp>
        <p:nvSpPr>
          <p:cNvPr id="21" name="TextBox 20"/>
          <p:cNvSpPr txBox="1"/>
          <p:nvPr/>
        </p:nvSpPr>
        <p:spPr>
          <a:xfrm>
            <a:off x="5760720" y="5074920"/>
            <a:ext cx="5669280" cy="365760"/>
          </a:xfrm>
          <a:prstGeom prst="rect">
            <a:avLst/>
          </a:prstGeom>
          <a:noFill/>
        </p:spPr>
        <p:txBody>
          <a:bodyPr wrap="square">
            <a:spAutoFit/>
          </a:bodyPr>
          <a:lstStyle/>
          <a:p>
            <a:pPr algn="l"/>
            <a:r>
              <a:rPr sz="1300" b="0" i="0">
                <a:solidFill>
                  <a:srgbClr val="B0C4DE"/>
                </a:solidFill>
                <a:latin typeface="Arial"/>
              </a:rPr>
              <a:t>実機デプロイ（変更なし）</a:t>
            </a:r>
          </a:p>
        </p:txBody>
      </p:sp>
      <p:sp>
        <p:nvSpPr>
          <p:cNvPr id="22" name="TextBox 21"/>
          <p:cNvSpPr txBox="1"/>
          <p:nvPr/>
        </p:nvSpPr>
        <p:spPr>
          <a:xfrm>
            <a:off x="274320" y="6217920"/>
            <a:ext cx="2743200" cy="457200"/>
          </a:xfrm>
          <a:prstGeom prst="rect">
            <a:avLst/>
          </a:prstGeom>
          <a:noFill/>
        </p:spPr>
        <p:txBody>
          <a:bodyPr wrap="square">
            <a:spAutoFit/>
          </a:bodyPr>
          <a:lstStyle/>
          <a:p>
            <a:pPr algn="l"/>
            <a:r>
              <a:rPr sz="1200" b="0" i="0">
                <a:solidFill>
                  <a:srgbClr val="B0C4DE"/>
                </a:solidFill>
                <a:latin typeface="Arial"/>
              </a:rPr>
              <a:t>2026年5月</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3657600" cy="457200"/>
          </a:xfrm>
          <a:prstGeom prst="rect">
            <a:avLst/>
          </a:prstGeom>
          <a:noFill/>
        </p:spPr>
        <p:txBody>
          <a:bodyPr wrap="square">
            <a:spAutoFit/>
          </a:bodyPr>
          <a:lstStyle/>
          <a:p>
            <a:pPr algn="l"/>
            <a:r>
              <a:rPr sz="1200" b="1" i="0">
                <a:solidFill>
                  <a:srgbClr val="FF6B35"/>
                </a:solidFill>
                <a:latin typeface="Arial"/>
              </a:rPr>
              <a:t>01  課題</a:t>
            </a:r>
          </a:p>
        </p:txBody>
      </p:sp>
      <p:sp>
        <p:nvSpPr>
          <p:cNvPr id="4" name="TextBox 3"/>
          <p:cNvSpPr txBox="1"/>
          <p:nvPr/>
        </p:nvSpPr>
        <p:spPr>
          <a:xfrm>
            <a:off x="457200" y="457200"/>
            <a:ext cx="6400800" cy="1097280"/>
          </a:xfrm>
          <a:prstGeom prst="rect">
            <a:avLst/>
          </a:prstGeom>
          <a:noFill/>
        </p:spPr>
        <p:txBody>
          <a:bodyPr wrap="square">
            <a:spAutoFit/>
          </a:bodyPr>
          <a:lstStyle/>
          <a:p>
            <a:pPr algn="l"/>
            <a:r>
              <a:rPr sz="3000" b="1" i="0">
                <a:solidFill>
                  <a:srgbClr val="FFFFFF"/>
                </a:solidFill>
                <a:latin typeface="Arial"/>
              </a:rPr>
              <a:t>従来の組み込み開発が
抱えるボトルネック</a:t>
            </a:r>
          </a:p>
        </p:txBody>
      </p:sp>
      <p:sp>
        <p:nvSpPr>
          <p:cNvPr id="5" name="Rectangle 4"/>
          <p:cNvSpPr/>
          <p:nvPr/>
        </p:nvSpPr>
        <p:spPr>
          <a:xfrm>
            <a:off x="457200" y="1828800"/>
            <a:ext cx="5303520" cy="182880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109728" cy="182880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20240"/>
            <a:ext cx="4846320" cy="457200"/>
          </a:xfrm>
          <a:prstGeom prst="rect">
            <a:avLst/>
          </a:prstGeom>
          <a:noFill/>
        </p:spPr>
        <p:txBody>
          <a:bodyPr wrap="square">
            <a:spAutoFit/>
          </a:bodyPr>
          <a:lstStyle/>
          <a:p>
            <a:pPr algn="l"/>
            <a:r>
              <a:rPr sz="1500" b="1" i="0">
                <a:solidFill>
                  <a:srgbClr val="FF6B35"/>
                </a:solidFill>
                <a:latin typeface="Arial"/>
              </a:rPr>
              <a:t>🔩  ハードウェア依存</a:t>
            </a:r>
          </a:p>
        </p:txBody>
      </p:sp>
      <p:sp>
        <p:nvSpPr>
          <p:cNvPr id="8" name="TextBox 7"/>
          <p:cNvSpPr txBox="1"/>
          <p:nvPr/>
        </p:nvSpPr>
        <p:spPr>
          <a:xfrm>
            <a:off x="685800" y="2377440"/>
            <a:ext cx="4846320" cy="1097280"/>
          </a:xfrm>
          <a:prstGeom prst="rect">
            <a:avLst/>
          </a:prstGeom>
          <a:noFill/>
        </p:spPr>
        <p:txBody>
          <a:bodyPr wrap="square">
            <a:spAutoFit/>
          </a:bodyPr>
          <a:lstStyle/>
          <a:p>
            <a:pPr algn="l"/>
            <a:r>
              <a:rPr sz="1300" b="0" i="0">
                <a:solidFill>
                  <a:srgbClr val="B0C4DE"/>
                </a:solidFill>
                <a:latin typeface="Arial"/>
              </a:rPr>
              <a:t>実機がなければ開発・テストできない
→ 新人・リモートワーカーが参加できない</a:t>
            </a:r>
          </a:p>
        </p:txBody>
      </p:sp>
      <p:sp>
        <p:nvSpPr>
          <p:cNvPr id="9" name="Rectangle 8"/>
          <p:cNvSpPr/>
          <p:nvPr/>
        </p:nvSpPr>
        <p:spPr>
          <a:xfrm>
            <a:off x="6217920" y="1828800"/>
            <a:ext cx="5303520" cy="182880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828800"/>
            <a:ext cx="109728" cy="18288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20240"/>
            <a:ext cx="4846320" cy="457200"/>
          </a:xfrm>
          <a:prstGeom prst="rect">
            <a:avLst/>
          </a:prstGeom>
          <a:noFill/>
        </p:spPr>
        <p:txBody>
          <a:bodyPr wrap="square">
            <a:spAutoFit/>
          </a:bodyPr>
          <a:lstStyle/>
          <a:p>
            <a:pPr algn="l"/>
            <a:r>
              <a:rPr sz="1500" b="1" i="0">
                <a:solidFill>
                  <a:srgbClr val="7C3AED"/>
                </a:solidFill>
                <a:latin typeface="Arial"/>
              </a:rPr>
              <a:t>🔄  環境差異リスク</a:t>
            </a:r>
          </a:p>
        </p:txBody>
      </p:sp>
      <p:sp>
        <p:nvSpPr>
          <p:cNvPr id="12" name="TextBox 11"/>
          <p:cNvSpPr txBox="1"/>
          <p:nvPr/>
        </p:nvSpPr>
        <p:spPr>
          <a:xfrm>
            <a:off x="6446520" y="2377440"/>
            <a:ext cx="4846320" cy="1097280"/>
          </a:xfrm>
          <a:prstGeom prst="rect">
            <a:avLst/>
          </a:prstGeom>
          <a:noFill/>
        </p:spPr>
        <p:txBody>
          <a:bodyPr wrap="square">
            <a:spAutoFit/>
          </a:bodyPr>
          <a:lstStyle/>
          <a:p>
            <a:pPr algn="l"/>
            <a:r>
              <a:rPr sz="1300" b="0" i="0">
                <a:solidFill>
                  <a:srgbClr val="B0C4DE"/>
                </a:solidFill>
                <a:latin typeface="Arial"/>
              </a:rPr>
              <a:t>開発者ごとに異なる OS / ツールチェーン
→「自分の環境では動く」問題が頻発</a:t>
            </a:r>
          </a:p>
        </p:txBody>
      </p:sp>
      <p:sp>
        <p:nvSpPr>
          <p:cNvPr id="13" name="Rectangle 12"/>
          <p:cNvSpPr/>
          <p:nvPr/>
        </p:nvSpPr>
        <p:spPr>
          <a:xfrm>
            <a:off x="457200" y="3931920"/>
            <a:ext cx="5303520" cy="182880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931920"/>
            <a:ext cx="109728" cy="182880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023360"/>
            <a:ext cx="4846320" cy="457200"/>
          </a:xfrm>
          <a:prstGeom prst="rect">
            <a:avLst/>
          </a:prstGeom>
          <a:noFill/>
        </p:spPr>
        <p:txBody>
          <a:bodyPr wrap="square">
            <a:spAutoFit/>
          </a:bodyPr>
          <a:lstStyle/>
          <a:p>
            <a:pPr algn="l"/>
            <a:r>
              <a:rPr sz="1500" b="1" i="0">
                <a:solidFill>
                  <a:srgbClr val="FFD700"/>
                </a:solidFill>
                <a:latin typeface="Arial"/>
              </a:rPr>
              <a:t>🐢  CI/CD の未整備</a:t>
            </a:r>
          </a:p>
        </p:txBody>
      </p:sp>
      <p:sp>
        <p:nvSpPr>
          <p:cNvPr id="16" name="TextBox 15"/>
          <p:cNvSpPr txBox="1"/>
          <p:nvPr/>
        </p:nvSpPr>
        <p:spPr>
          <a:xfrm>
            <a:off x="685800" y="4480560"/>
            <a:ext cx="4846320" cy="1097280"/>
          </a:xfrm>
          <a:prstGeom prst="rect">
            <a:avLst/>
          </a:prstGeom>
          <a:noFill/>
        </p:spPr>
        <p:txBody>
          <a:bodyPr wrap="square">
            <a:spAutoFit/>
          </a:bodyPr>
          <a:lstStyle/>
          <a:p>
            <a:pPr algn="l"/>
            <a:r>
              <a:rPr sz="1300" b="0" i="0">
                <a:solidFill>
                  <a:srgbClr val="B0C4DE"/>
                </a:solidFill>
                <a:latin typeface="Arial"/>
              </a:rPr>
              <a:t>組み込みバイナリの自動テストが困難
→ バグが実機フェーズまで発見されない</a:t>
            </a:r>
          </a:p>
        </p:txBody>
      </p:sp>
      <p:sp>
        <p:nvSpPr>
          <p:cNvPr id="17" name="Rectangle 16"/>
          <p:cNvSpPr/>
          <p:nvPr/>
        </p:nvSpPr>
        <p:spPr>
          <a:xfrm>
            <a:off x="6217920" y="3931920"/>
            <a:ext cx="5303520" cy="182880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3931920"/>
            <a:ext cx="109728" cy="1828800"/>
          </a:xfrm>
          <a:prstGeom prst="rect">
            <a:avLst/>
          </a:prstGeom>
          <a:solidFill>
            <a:srgbClr val="00E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4023360"/>
            <a:ext cx="4846320" cy="457200"/>
          </a:xfrm>
          <a:prstGeom prst="rect">
            <a:avLst/>
          </a:prstGeom>
          <a:noFill/>
        </p:spPr>
        <p:txBody>
          <a:bodyPr wrap="square">
            <a:spAutoFit/>
          </a:bodyPr>
          <a:lstStyle/>
          <a:p>
            <a:pPr algn="l"/>
            <a:r>
              <a:rPr sz="1500" b="1" i="0">
                <a:solidFill>
                  <a:srgbClr val="00E09E"/>
                </a:solidFill>
                <a:latin typeface="Arial"/>
              </a:rPr>
              <a:t>💸  コスト・スケール</a:t>
            </a:r>
          </a:p>
        </p:txBody>
      </p:sp>
      <p:sp>
        <p:nvSpPr>
          <p:cNvPr id="20" name="TextBox 19"/>
          <p:cNvSpPr txBox="1"/>
          <p:nvPr/>
        </p:nvSpPr>
        <p:spPr>
          <a:xfrm>
            <a:off x="6446520" y="4480560"/>
            <a:ext cx="4846320" cy="1097280"/>
          </a:xfrm>
          <a:prstGeom prst="rect">
            <a:avLst/>
          </a:prstGeom>
          <a:noFill/>
        </p:spPr>
        <p:txBody>
          <a:bodyPr wrap="square">
            <a:spAutoFit/>
          </a:bodyPr>
          <a:lstStyle/>
          <a:p>
            <a:pPr algn="l"/>
            <a:r>
              <a:rPr sz="1300" b="0" i="0">
                <a:solidFill>
                  <a:srgbClr val="B0C4DE"/>
                </a:solidFill>
                <a:latin typeface="Arial"/>
              </a:rPr>
              <a:t>テスト用ハードウェア調達・管理コストが高額
→ 開発台数分のデバイスが必要</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4572000" cy="457200"/>
          </a:xfrm>
          <a:prstGeom prst="rect">
            <a:avLst/>
          </a:prstGeom>
          <a:noFill/>
        </p:spPr>
        <p:txBody>
          <a:bodyPr wrap="square">
            <a:spAutoFit/>
          </a:bodyPr>
          <a:lstStyle/>
          <a:p>
            <a:pPr algn="l"/>
            <a:r>
              <a:rPr sz="1200" b="1" i="0">
                <a:solidFill>
                  <a:srgbClr val="7C3AED"/>
                </a:solidFill>
                <a:latin typeface="Arial"/>
              </a:rPr>
              <a:t>02  業界トレンド</a:t>
            </a:r>
          </a:p>
        </p:txBody>
      </p:sp>
      <p:sp>
        <p:nvSpPr>
          <p:cNvPr id="4" name="TextBox 3"/>
          <p:cNvSpPr txBox="1"/>
          <p:nvPr/>
        </p:nvSpPr>
        <p:spPr>
          <a:xfrm>
            <a:off x="457200" y="457200"/>
            <a:ext cx="7315200" cy="1097280"/>
          </a:xfrm>
          <a:prstGeom prst="rect">
            <a:avLst/>
          </a:prstGeom>
          <a:noFill/>
        </p:spPr>
        <p:txBody>
          <a:bodyPr wrap="square">
            <a:spAutoFit/>
          </a:bodyPr>
          <a:lstStyle/>
          <a:p>
            <a:pPr algn="l"/>
            <a:r>
              <a:rPr sz="3000" b="1" i="0">
                <a:solidFill>
                  <a:srgbClr val="FFFFFF"/>
                </a:solidFill>
                <a:latin typeface="Arial"/>
              </a:rPr>
              <a:t>AI・クラウドが変える
組み込み開発の地平</a:t>
            </a:r>
          </a:p>
        </p:txBody>
      </p:sp>
      <p:sp>
        <p:nvSpPr>
          <p:cNvPr id="5" name="Rectangle 4"/>
          <p:cNvSpPr/>
          <p:nvPr/>
        </p:nvSpPr>
        <p:spPr>
          <a:xfrm>
            <a:off x="457200" y="1828800"/>
            <a:ext cx="5394960" cy="192024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457200" y="1828800"/>
            <a:ext cx="109728" cy="192024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901952"/>
            <a:ext cx="4937760" cy="411480"/>
          </a:xfrm>
          <a:prstGeom prst="rect">
            <a:avLst/>
          </a:prstGeom>
          <a:noFill/>
        </p:spPr>
        <p:txBody>
          <a:bodyPr wrap="square">
            <a:spAutoFit/>
          </a:bodyPr>
          <a:lstStyle/>
          <a:p>
            <a:pPr algn="l"/>
            <a:r>
              <a:rPr sz="1400" b="1" i="0">
                <a:solidFill>
                  <a:srgbClr val="00C8FF"/>
                </a:solidFill>
                <a:latin typeface="Arial"/>
              </a:rPr>
              <a:t>🤖  AI Coding Assistant の台頭</a:t>
            </a:r>
          </a:p>
        </p:txBody>
      </p:sp>
      <p:sp>
        <p:nvSpPr>
          <p:cNvPr id="8" name="TextBox 7"/>
          <p:cNvSpPr txBox="1"/>
          <p:nvPr/>
        </p:nvSpPr>
        <p:spPr>
          <a:xfrm>
            <a:off x="685800" y="2331720"/>
            <a:ext cx="4937760" cy="1280160"/>
          </a:xfrm>
          <a:prstGeom prst="rect">
            <a:avLst/>
          </a:prstGeom>
          <a:noFill/>
        </p:spPr>
        <p:txBody>
          <a:bodyPr wrap="square">
            <a:spAutoFit/>
          </a:bodyPr>
          <a:lstStyle/>
          <a:p>
            <a:pPr algn="l"/>
            <a:r>
              <a:rPr sz="1150" b="0" i="0">
                <a:solidFill>
                  <a:srgbClr val="B0C4DE"/>
                </a:solidFill>
                <a:latin typeface="Arial"/>
              </a:rPr>
              <a:t>• GitHub Copilot / Claude Code がドライバ・テストコードを自動生成
• AI はクラウド上で動作 → ハードウェアへの直接アクセス不可
• → 仮想デバイス層が AI 活用の鍵になる</a:t>
            </a:r>
          </a:p>
        </p:txBody>
      </p:sp>
      <p:sp>
        <p:nvSpPr>
          <p:cNvPr id="9" name="Rectangle 8"/>
          <p:cNvSpPr/>
          <p:nvPr/>
        </p:nvSpPr>
        <p:spPr>
          <a:xfrm>
            <a:off x="6217920" y="1828800"/>
            <a:ext cx="5394960" cy="192024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6217920" y="1828800"/>
            <a:ext cx="109728" cy="19202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46520" y="1901952"/>
            <a:ext cx="4937760" cy="411480"/>
          </a:xfrm>
          <a:prstGeom prst="rect">
            <a:avLst/>
          </a:prstGeom>
          <a:noFill/>
        </p:spPr>
        <p:txBody>
          <a:bodyPr wrap="square">
            <a:spAutoFit/>
          </a:bodyPr>
          <a:lstStyle/>
          <a:p>
            <a:pPr algn="l"/>
            <a:r>
              <a:rPr sz="1400" b="1" i="0">
                <a:solidFill>
                  <a:srgbClr val="7C3AED"/>
                </a:solidFill>
                <a:latin typeface="Arial"/>
              </a:rPr>
              <a:t>☁  クラウド IDE の普及</a:t>
            </a:r>
          </a:p>
        </p:txBody>
      </p:sp>
      <p:sp>
        <p:nvSpPr>
          <p:cNvPr id="12" name="TextBox 11"/>
          <p:cNvSpPr txBox="1"/>
          <p:nvPr/>
        </p:nvSpPr>
        <p:spPr>
          <a:xfrm>
            <a:off x="6446520" y="2331720"/>
            <a:ext cx="4937760" cy="1280160"/>
          </a:xfrm>
          <a:prstGeom prst="rect">
            <a:avLst/>
          </a:prstGeom>
          <a:noFill/>
        </p:spPr>
        <p:txBody>
          <a:bodyPr wrap="square">
            <a:spAutoFit/>
          </a:bodyPr>
          <a:lstStyle/>
          <a:p>
            <a:pPr algn="l"/>
            <a:r>
              <a:rPr sz="1150" b="0" i="0">
                <a:solidFill>
                  <a:srgbClr val="B0C4DE"/>
                </a:solidFill>
                <a:latin typeface="Arial"/>
              </a:rPr>
              <a:t>• GitHub Codespaces / Gitpod が標準化
• ブラウザだけで本格的な C/C++ クロスコンパイルが可能
• → ローカル環境セットアップゼロ</a:t>
            </a:r>
          </a:p>
        </p:txBody>
      </p:sp>
      <p:sp>
        <p:nvSpPr>
          <p:cNvPr id="13" name="Rectangle 12"/>
          <p:cNvSpPr/>
          <p:nvPr/>
        </p:nvSpPr>
        <p:spPr>
          <a:xfrm>
            <a:off x="457200" y="3931920"/>
            <a:ext cx="5394960" cy="192024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57200" y="3931920"/>
            <a:ext cx="109728" cy="1920240"/>
          </a:xfrm>
          <a:prstGeom prst="rect">
            <a:avLst/>
          </a:prstGeom>
          <a:solidFill>
            <a:srgbClr val="00E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85800" y="4005072"/>
            <a:ext cx="4937760" cy="411480"/>
          </a:xfrm>
          <a:prstGeom prst="rect">
            <a:avLst/>
          </a:prstGeom>
          <a:noFill/>
        </p:spPr>
        <p:txBody>
          <a:bodyPr wrap="square">
            <a:spAutoFit/>
          </a:bodyPr>
          <a:lstStyle/>
          <a:p>
            <a:pPr algn="l"/>
            <a:r>
              <a:rPr sz="1400" b="1" i="0">
                <a:solidFill>
                  <a:srgbClr val="00E09E"/>
                </a:solidFill>
                <a:latin typeface="Arial"/>
              </a:rPr>
              <a:t>🏭  デジタルツイン化の加速</a:t>
            </a:r>
          </a:p>
        </p:txBody>
      </p:sp>
      <p:sp>
        <p:nvSpPr>
          <p:cNvPr id="16" name="TextBox 15"/>
          <p:cNvSpPr txBox="1"/>
          <p:nvPr/>
        </p:nvSpPr>
        <p:spPr>
          <a:xfrm>
            <a:off x="685800" y="4434840"/>
            <a:ext cx="4937760" cy="1280160"/>
          </a:xfrm>
          <a:prstGeom prst="rect">
            <a:avLst/>
          </a:prstGeom>
          <a:noFill/>
        </p:spPr>
        <p:txBody>
          <a:bodyPr wrap="square">
            <a:spAutoFit/>
          </a:bodyPr>
          <a:lstStyle/>
          <a:p>
            <a:pPr algn="l"/>
            <a:r>
              <a:rPr sz="1150" b="0" i="0">
                <a:solidFill>
                  <a:srgbClr val="B0C4DE"/>
                </a:solidFill>
                <a:latin typeface="Arial"/>
              </a:rPr>
              <a:t>• AWS IoT TwinMaker / Azure Digital Twins が成長市場
• 実機と同一ロジックをクラウドで先行検証するアプローチが主流に
• → 本 PoC はその最小構成を実証</a:t>
            </a:r>
          </a:p>
        </p:txBody>
      </p:sp>
      <p:sp>
        <p:nvSpPr>
          <p:cNvPr id="17" name="Rectangle 16"/>
          <p:cNvSpPr/>
          <p:nvPr/>
        </p:nvSpPr>
        <p:spPr>
          <a:xfrm>
            <a:off x="6217920" y="3931920"/>
            <a:ext cx="5394960" cy="192024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6217920" y="3931920"/>
            <a:ext cx="109728" cy="192024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46520" y="4005072"/>
            <a:ext cx="4937760" cy="411480"/>
          </a:xfrm>
          <a:prstGeom prst="rect">
            <a:avLst/>
          </a:prstGeom>
          <a:noFill/>
        </p:spPr>
        <p:txBody>
          <a:bodyPr wrap="square">
            <a:spAutoFit/>
          </a:bodyPr>
          <a:lstStyle/>
          <a:p>
            <a:pPr algn="l"/>
            <a:r>
              <a:rPr sz="1400" b="1" i="0">
                <a:solidFill>
                  <a:srgbClr val="FFD700"/>
                </a:solidFill>
                <a:latin typeface="Arial"/>
              </a:rPr>
              <a:t>📡  Edge AI × ARM の爆発的成長</a:t>
            </a:r>
          </a:p>
        </p:txBody>
      </p:sp>
      <p:sp>
        <p:nvSpPr>
          <p:cNvPr id="20" name="TextBox 19"/>
          <p:cNvSpPr txBox="1"/>
          <p:nvPr/>
        </p:nvSpPr>
        <p:spPr>
          <a:xfrm>
            <a:off x="6446520" y="4434840"/>
            <a:ext cx="4937760" cy="1280160"/>
          </a:xfrm>
          <a:prstGeom prst="rect">
            <a:avLst/>
          </a:prstGeom>
          <a:noFill/>
        </p:spPr>
        <p:txBody>
          <a:bodyPr wrap="square">
            <a:spAutoFit/>
          </a:bodyPr>
          <a:lstStyle/>
          <a:p>
            <a:pPr algn="l"/>
            <a:r>
              <a:rPr sz="1150" b="0" i="0">
                <a:solidFill>
                  <a:srgbClr val="B0C4DE"/>
                </a:solidFill>
                <a:latin typeface="Arial"/>
              </a:rPr>
              <a:t>• Raspberry Pi 5 / NVIDIA Jetson / Apple M シリーズすべて ARM64
• クラウド（EC2 Graviton）と実機が同一 ISA
• → 「一度ビルド、どこでも動く」が現実的に</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E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4572000" cy="457200"/>
          </a:xfrm>
          <a:prstGeom prst="rect">
            <a:avLst/>
          </a:prstGeom>
          <a:noFill/>
        </p:spPr>
        <p:txBody>
          <a:bodyPr wrap="square">
            <a:spAutoFit/>
          </a:bodyPr>
          <a:lstStyle/>
          <a:p>
            <a:pPr algn="l"/>
            <a:r>
              <a:rPr sz="1200" b="1" i="0">
                <a:solidFill>
                  <a:srgbClr val="00E09E"/>
                </a:solidFill>
                <a:latin typeface="Arial"/>
              </a:rPr>
              <a:t>03  ソリューション</a:t>
            </a:r>
          </a:p>
        </p:txBody>
      </p:sp>
      <p:sp>
        <p:nvSpPr>
          <p:cNvPr id="4" name="TextBox 3"/>
          <p:cNvSpPr txBox="1"/>
          <p:nvPr/>
        </p:nvSpPr>
        <p:spPr>
          <a:xfrm>
            <a:off x="457200" y="457200"/>
            <a:ext cx="9144000" cy="640080"/>
          </a:xfrm>
          <a:prstGeom prst="rect">
            <a:avLst/>
          </a:prstGeom>
          <a:noFill/>
        </p:spPr>
        <p:txBody>
          <a:bodyPr wrap="square">
            <a:spAutoFit/>
          </a:bodyPr>
          <a:lstStyle/>
          <a:p>
            <a:pPr algn="l"/>
            <a:r>
              <a:rPr sz="3200" b="1" i="0">
                <a:solidFill>
                  <a:srgbClr val="FFFFFF"/>
                </a:solidFill>
                <a:latin typeface="Arial"/>
              </a:rPr>
              <a:t>ExperimentalDevEnv</a:t>
            </a:r>
          </a:p>
        </p:txBody>
      </p:sp>
      <p:sp>
        <p:nvSpPr>
          <p:cNvPr id="5" name="TextBox 4"/>
          <p:cNvSpPr txBox="1"/>
          <p:nvPr/>
        </p:nvSpPr>
        <p:spPr>
          <a:xfrm>
            <a:off x="457200" y="1051560"/>
            <a:ext cx="10972800" cy="731520"/>
          </a:xfrm>
          <a:prstGeom prst="rect">
            <a:avLst/>
          </a:prstGeom>
          <a:noFill/>
        </p:spPr>
        <p:txBody>
          <a:bodyPr wrap="square">
            <a:spAutoFit/>
          </a:bodyPr>
          <a:lstStyle/>
          <a:p>
            <a:pPr algn="l"/>
            <a:r>
              <a:rPr sz="1600" b="0" i="1">
                <a:solidFill>
                  <a:srgbClr val="B0C4DE"/>
                </a:solidFill>
                <a:latin typeface="Arial"/>
              </a:rPr>
              <a:t>「ハードウェアなしで始め、同じバイナリを実機に展開する」
クラウドネイティブ組み込み開発 PoC</a:t>
            </a:r>
          </a:p>
        </p:txBody>
      </p:sp>
      <p:sp>
        <p:nvSpPr>
          <p:cNvPr id="6" name="Rectangle 5"/>
          <p:cNvSpPr/>
          <p:nvPr/>
        </p:nvSpPr>
        <p:spPr>
          <a:xfrm>
            <a:off x="365760" y="1920240"/>
            <a:ext cx="3566160" cy="429768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920240"/>
            <a:ext cx="3566160" cy="109728"/>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2148840"/>
            <a:ext cx="3200400" cy="548640"/>
          </a:xfrm>
          <a:prstGeom prst="rect">
            <a:avLst/>
          </a:prstGeom>
          <a:noFill/>
        </p:spPr>
        <p:txBody>
          <a:bodyPr wrap="square">
            <a:spAutoFit/>
          </a:bodyPr>
          <a:lstStyle/>
          <a:p>
            <a:pPr algn="ctr"/>
            <a:r>
              <a:rPr sz="2000" b="1" i="0">
                <a:solidFill>
                  <a:srgbClr val="00C8FF"/>
                </a:solidFill>
                <a:latin typeface="Arial"/>
              </a:rPr>
              <a:t>Zero Setup</a:t>
            </a:r>
          </a:p>
        </p:txBody>
      </p:sp>
      <p:sp>
        <p:nvSpPr>
          <p:cNvPr id="9" name="TextBox 8"/>
          <p:cNvSpPr txBox="1"/>
          <p:nvPr/>
        </p:nvSpPr>
        <p:spPr>
          <a:xfrm>
            <a:off x="548640" y="2743200"/>
            <a:ext cx="3200400" cy="3200400"/>
          </a:xfrm>
          <a:prstGeom prst="rect">
            <a:avLst/>
          </a:prstGeom>
          <a:noFill/>
        </p:spPr>
        <p:txBody>
          <a:bodyPr wrap="square">
            <a:spAutoFit/>
          </a:bodyPr>
          <a:lstStyle/>
          <a:p>
            <a:pPr algn="ctr"/>
            <a:r>
              <a:rPr sz="1400" b="0" i="0">
                <a:solidFill>
                  <a:srgbClr val="B0C4DE"/>
                </a:solidFill>
                <a:latin typeface="Arial"/>
              </a:rPr>
              <a:t>GitHub Codespaces で
クロスコンパイル環境を
即時起動
ローカル環境構築不要</a:t>
            </a:r>
          </a:p>
        </p:txBody>
      </p:sp>
      <p:sp>
        <p:nvSpPr>
          <p:cNvPr id="10" name="Rectangle 9"/>
          <p:cNvSpPr/>
          <p:nvPr/>
        </p:nvSpPr>
        <p:spPr>
          <a:xfrm>
            <a:off x="4206240" y="1920240"/>
            <a:ext cx="3566160" cy="429768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206240" y="1920240"/>
            <a:ext cx="3566160" cy="109728"/>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389120" y="2148840"/>
            <a:ext cx="3200400" cy="548640"/>
          </a:xfrm>
          <a:prstGeom prst="rect">
            <a:avLst/>
          </a:prstGeom>
          <a:noFill/>
        </p:spPr>
        <p:txBody>
          <a:bodyPr wrap="square">
            <a:spAutoFit/>
          </a:bodyPr>
          <a:lstStyle/>
          <a:p>
            <a:pPr algn="ctr"/>
            <a:r>
              <a:rPr sz="2000" b="1" i="0">
                <a:solidFill>
                  <a:srgbClr val="7C3AED"/>
                </a:solidFill>
                <a:latin typeface="Arial"/>
              </a:rPr>
              <a:t>Cloud Simulate</a:t>
            </a:r>
          </a:p>
        </p:txBody>
      </p:sp>
      <p:sp>
        <p:nvSpPr>
          <p:cNvPr id="13" name="TextBox 12"/>
          <p:cNvSpPr txBox="1"/>
          <p:nvPr/>
        </p:nvSpPr>
        <p:spPr>
          <a:xfrm>
            <a:off x="4389120" y="2743200"/>
            <a:ext cx="3200400" cy="3200400"/>
          </a:xfrm>
          <a:prstGeom prst="rect">
            <a:avLst/>
          </a:prstGeom>
          <a:noFill/>
        </p:spPr>
        <p:txBody>
          <a:bodyPr wrap="square">
            <a:spAutoFit/>
          </a:bodyPr>
          <a:lstStyle/>
          <a:p>
            <a:pPr algn="ctr"/>
            <a:r>
              <a:rPr sz="1400" b="0" i="0">
                <a:solidFill>
                  <a:srgbClr val="B0C4DE"/>
                </a:solidFill>
                <a:latin typeface="Arial"/>
              </a:rPr>
              <a:t>AWS EC2 Graviton で
GPIO / I2C / SPI を仮想化
ブラウザで
ハードウェアを操作</a:t>
            </a:r>
          </a:p>
        </p:txBody>
      </p:sp>
      <p:sp>
        <p:nvSpPr>
          <p:cNvPr id="14" name="Rectangle 13"/>
          <p:cNvSpPr/>
          <p:nvPr/>
        </p:nvSpPr>
        <p:spPr>
          <a:xfrm>
            <a:off x="8046720" y="1920240"/>
            <a:ext cx="3566160" cy="429768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8046720" y="1920240"/>
            <a:ext cx="3566160" cy="109728"/>
          </a:xfrm>
          <a:prstGeom prst="rect">
            <a:avLst/>
          </a:prstGeom>
          <a:solidFill>
            <a:srgbClr val="00E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229600" y="2148840"/>
            <a:ext cx="3200400" cy="548640"/>
          </a:xfrm>
          <a:prstGeom prst="rect">
            <a:avLst/>
          </a:prstGeom>
          <a:noFill/>
        </p:spPr>
        <p:txBody>
          <a:bodyPr wrap="square">
            <a:spAutoFit/>
          </a:bodyPr>
          <a:lstStyle/>
          <a:p>
            <a:pPr algn="ctr"/>
            <a:r>
              <a:rPr sz="2000" b="1" i="0">
                <a:solidFill>
                  <a:srgbClr val="00E09E"/>
                </a:solidFill>
                <a:latin typeface="Arial"/>
              </a:rPr>
              <a:t>Real Deploy</a:t>
            </a:r>
          </a:p>
        </p:txBody>
      </p:sp>
      <p:sp>
        <p:nvSpPr>
          <p:cNvPr id="17" name="TextBox 16"/>
          <p:cNvSpPr txBox="1"/>
          <p:nvPr/>
        </p:nvSpPr>
        <p:spPr>
          <a:xfrm>
            <a:off x="8229600" y="2743200"/>
            <a:ext cx="3200400" cy="3200400"/>
          </a:xfrm>
          <a:prstGeom prst="rect">
            <a:avLst/>
          </a:prstGeom>
          <a:noFill/>
        </p:spPr>
        <p:txBody>
          <a:bodyPr wrap="square">
            <a:spAutoFit/>
          </a:bodyPr>
          <a:lstStyle/>
          <a:p>
            <a:pPr algn="ctr"/>
            <a:r>
              <a:rPr sz="1400" b="0" i="0">
                <a:solidFill>
                  <a:srgbClr val="B0C4DE"/>
                </a:solidFill>
                <a:latin typeface="Arial"/>
              </a:rPr>
              <a:t>同一バイナリを
Raspberry Pi 5 に展開
コード変更ゼロで
実機動作を確認</a:t>
            </a:r>
          </a:p>
        </p:txBody>
      </p:sp>
      <p:sp>
        <p:nvSpPr>
          <p:cNvPr id="18" name="TextBox 17"/>
          <p:cNvSpPr txBox="1"/>
          <p:nvPr/>
        </p:nvSpPr>
        <p:spPr>
          <a:xfrm>
            <a:off x="3886200" y="3749039"/>
            <a:ext cx="457200" cy="548640"/>
          </a:xfrm>
          <a:prstGeom prst="rect">
            <a:avLst/>
          </a:prstGeom>
          <a:noFill/>
        </p:spPr>
        <p:txBody>
          <a:bodyPr wrap="square">
            <a:spAutoFit/>
          </a:bodyPr>
          <a:lstStyle/>
          <a:p>
            <a:pPr algn="ctr"/>
            <a:r>
              <a:rPr sz="2400" b="1" i="0">
                <a:solidFill>
                  <a:srgbClr val="00C8FF"/>
                </a:solidFill>
                <a:latin typeface="Arial"/>
              </a:rPr>
              <a:t>→</a:t>
            </a:r>
          </a:p>
        </p:txBody>
      </p:sp>
      <p:sp>
        <p:nvSpPr>
          <p:cNvPr id="19" name="TextBox 18"/>
          <p:cNvSpPr txBox="1"/>
          <p:nvPr/>
        </p:nvSpPr>
        <p:spPr>
          <a:xfrm>
            <a:off x="7726679" y="3749039"/>
            <a:ext cx="457200" cy="548640"/>
          </a:xfrm>
          <a:prstGeom prst="rect">
            <a:avLst/>
          </a:prstGeom>
          <a:noFill/>
        </p:spPr>
        <p:txBody>
          <a:bodyPr wrap="square">
            <a:spAutoFit/>
          </a:bodyPr>
          <a:lstStyle/>
          <a:p>
            <a:pPr algn="ctr"/>
            <a:r>
              <a:rPr sz="2400" b="1" i="0">
                <a:solidFill>
                  <a:srgbClr val="00C8FF"/>
                </a:solidFill>
                <a:latin typeface="Arial"/>
              </a:rPr>
              <a:t>→</a:t>
            </a:r>
          </a:p>
        </p:txBody>
      </p:sp>
      <p:sp>
        <p:nvSpPr>
          <p:cNvPr id="20" name="TextBox 19"/>
          <p:cNvSpPr txBox="1"/>
          <p:nvPr/>
        </p:nvSpPr>
        <p:spPr>
          <a:xfrm>
            <a:off x="457200" y="6400800"/>
            <a:ext cx="11247120" cy="365760"/>
          </a:xfrm>
          <a:prstGeom prst="rect">
            <a:avLst/>
          </a:prstGeom>
          <a:noFill/>
        </p:spPr>
        <p:txBody>
          <a:bodyPr wrap="square">
            <a:spAutoFit/>
          </a:bodyPr>
          <a:lstStyle/>
          <a:p>
            <a:pPr algn="ctr"/>
            <a:r>
              <a:rPr sz="1400" b="1" i="0">
                <a:solidFill>
                  <a:srgbClr val="00E09E"/>
                </a:solidFill>
                <a:latin typeface="Arial"/>
              </a:rPr>
              <a:t>★  開発から実機検証まで全工程をクラウドで完結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4572000" cy="457200"/>
          </a:xfrm>
          <a:prstGeom prst="rect">
            <a:avLst/>
          </a:prstGeom>
          <a:noFill/>
        </p:spPr>
        <p:txBody>
          <a:bodyPr wrap="square">
            <a:spAutoFit/>
          </a:bodyPr>
          <a:lstStyle/>
          <a:p>
            <a:pPr algn="l"/>
            <a:r>
              <a:rPr sz="1200" b="1" i="0">
                <a:solidFill>
                  <a:srgbClr val="00C8FF"/>
                </a:solidFill>
                <a:latin typeface="Arial"/>
              </a:rPr>
              <a:t>04  アーキテクチャ</a:t>
            </a:r>
          </a:p>
        </p:txBody>
      </p:sp>
      <p:sp>
        <p:nvSpPr>
          <p:cNvPr id="4" name="TextBox 3"/>
          <p:cNvSpPr txBox="1"/>
          <p:nvPr/>
        </p:nvSpPr>
        <p:spPr>
          <a:xfrm>
            <a:off x="457200" y="457200"/>
            <a:ext cx="7315200" cy="640080"/>
          </a:xfrm>
          <a:prstGeom prst="rect">
            <a:avLst/>
          </a:prstGeom>
          <a:noFill/>
        </p:spPr>
        <p:txBody>
          <a:bodyPr wrap="square">
            <a:spAutoFit/>
          </a:bodyPr>
          <a:lstStyle/>
          <a:p>
            <a:pPr algn="l"/>
            <a:r>
              <a:rPr sz="2800" b="1" i="0">
                <a:solidFill>
                  <a:srgbClr val="FFFFFF"/>
                </a:solidFill>
                <a:latin typeface="Arial"/>
              </a:rPr>
              <a:t>3層パイプライン構成</a:t>
            </a:r>
          </a:p>
        </p:txBody>
      </p:sp>
      <p:sp>
        <p:nvSpPr>
          <p:cNvPr id="5" name="Rectangle 4"/>
          <p:cNvSpPr/>
          <p:nvPr/>
        </p:nvSpPr>
        <p:spPr>
          <a:xfrm>
            <a:off x="365760" y="1325880"/>
            <a:ext cx="11430000" cy="155448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25880"/>
            <a:ext cx="109728" cy="155448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399032"/>
            <a:ext cx="3200400" cy="411480"/>
          </a:xfrm>
          <a:prstGeom prst="rect">
            <a:avLst/>
          </a:prstGeom>
          <a:noFill/>
        </p:spPr>
        <p:txBody>
          <a:bodyPr wrap="square">
            <a:spAutoFit/>
          </a:bodyPr>
          <a:lstStyle/>
          <a:p>
            <a:pPr algn="l"/>
            <a:r>
              <a:rPr sz="1400" b="1" i="0">
                <a:solidFill>
                  <a:srgbClr val="00C8FF"/>
                </a:solidFill>
                <a:latin typeface="Arial"/>
              </a:rPr>
              <a:t>Tier 1  ビルド層</a:t>
            </a:r>
          </a:p>
        </p:txBody>
      </p:sp>
      <p:sp>
        <p:nvSpPr>
          <p:cNvPr id="8" name="TextBox 7"/>
          <p:cNvSpPr txBox="1"/>
          <p:nvPr/>
        </p:nvSpPr>
        <p:spPr>
          <a:xfrm>
            <a:off x="3657600" y="1399032"/>
            <a:ext cx="7863840" cy="411480"/>
          </a:xfrm>
          <a:prstGeom prst="rect">
            <a:avLst/>
          </a:prstGeom>
          <a:noFill/>
        </p:spPr>
        <p:txBody>
          <a:bodyPr wrap="square">
            <a:spAutoFit/>
          </a:bodyPr>
          <a:lstStyle/>
          <a:p>
            <a:pPr algn="l"/>
            <a:r>
              <a:rPr sz="1300" b="0" i="0">
                <a:solidFill>
                  <a:srgbClr val="B0C4DE"/>
                </a:solidFill>
                <a:latin typeface="Arial"/>
              </a:rPr>
              <a:t>GitHub Codespaces  (x86_64, Ubuntu 24.04)</a:t>
            </a:r>
          </a:p>
        </p:txBody>
      </p:sp>
      <p:sp>
        <p:nvSpPr>
          <p:cNvPr id="9" name="TextBox 8"/>
          <p:cNvSpPr txBox="1"/>
          <p:nvPr/>
        </p:nvSpPr>
        <p:spPr>
          <a:xfrm>
            <a:off x="594360" y="1874520"/>
            <a:ext cx="11064240" cy="822960"/>
          </a:xfrm>
          <a:prstGeom prst="rect">
            <a:avLst/>
          </a:prstGeom>
          <a:noFill/>
        </p:spPr>
        <p:txBody>
          <a:bodyPr wrap="square">
            <a:spAutoFit/>
          </a:bodyPr>
          <a:lstStyle/>
          <a:p>
            <a:pPr algn="l"/>
            <a:r>
              <a:rPr sz="1150" b="0" i="0">
                <a:solidFill>
                  <a:srgbClr val="B0C4DE"/>
                </a:solidFill>
                <a:latin typeface="Arial"/>
              </a:rPr>
              <a:t>• aarch64-linux-gnu-gcc でクロスコンパイル   • libfuse3, linux-headers 含む完全な組み込み toolchain   • VSCode タスクで one-click ビルド &amp; デプロイ</a:t>
            </a:r>
          </a:p>
        </p:txBody>
      </p:sp>
      <p:sp>
        <p:nvSpPr>
          <p:cNvPr id="10" name="TextBox 9"/>
          <p:cNvSpPr txBox="1"/>
          <p:nvPr/>
        </p:nvSpPr>
        <p:spPr>
          <a:xfrm>
            <a:off x="5029200" y="2880360"/>
            <a:ext cx="3657600" cy="228600"/>
          </a:xfrm>
          <a:prstGeom prst="rect">
            <a:avLst/>
          </a:prstGeom>
          <a:noFill/>
        </p:spPr>
        <p:txBody>
          <a:bodyPr wrap="square">
            <a:spAutoFit/>
          </a:bodyPr>
          <a:lstStyle/>
          <a:p>
            <a:pPr algn="ctr"/>
            <a:r>
              <a:rPr sz="1100" b="0" i="0">
                <a:solidFill>
                  <a:srgbClr val="00C8FF"/>
                </a:solidFill>
                <a:latin typeface="Arial"/>
              </a:rPr>
              <a:t>↓  cross-compile &amp; scp</a:t>
            </a:r>
          </a:p>
        </p:txBody>
      </p:sp>
      <p:sp>
        <p:nvSpPr>
          <p:cNvPr id="11" name="Rectangle 10"/>
          <p:cNvSpPr/>
          <p:nvPr/>
        </p:nvSpPr>
        <p:spPr>
          <a:xfrm>
            <a:off x="365760" y="3063239"/>
            <a:ext cx="11430000" cy="155448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365760" y="3063239"/>
            <a:ext cx="109728" cy="15544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3136391"/>
            <a:ext cx="3200400" cy="411480"/>
          </a:xfrm>
          <a:prstGeom prst="rect">
            <a:avLst/>
          </a:prstGeom>
          <a:noFill/>
        </p:spPr>
        <p:txBody>
          <a:bodyPr wrap="square">
            <a:spAutoFit/>
          </a:bodyPr>
          <a:lstStyle/>
          <a:p>
            <a:pPr algn="l"/>
            <a:r>
              <a:rPr sz="1400" b="1" i="0">
                <a:solidFill>
                  <a:srgbClr val="7C3AED"/>
                </a:solidFill>
                <a:latin typeface="Arial"/>
              </a:rPr>
              <a:t>Tier 2  シミュレーション層</a:t>
            </a:r>
          </a:p>
        </p:txBody>
      </p:sp>
      <p:sp>
        <p:nvSpPr>
          <p:cNvPr id="14" name="TextBox 13"/>
          <p:cNvSpPr txBox="1"/>
          <p:nvPr/>
        </p:nvSpPr>
        <p:spPr>
          <a:xfrm>
            <a:off x="3657600" y="3136391"/>
            <a:ext cx="7863840" cy="411480"/>
          </a:xfrm>
          <a:prstGeom prst="rect">
            <a:avLst/>
          </a:prstGeom>
          <a:noFill/>
        </p:spPr>
        <p:txBody>
          <a:bodyPr wrap="square">
            <a:spAutoFit/>
          </a:bodyPr>
          <a:lstStyle/>
          <a:p>
            <a:pPr algn="l"/>
            <a:r>
              <a:rPr sz="1300" b="0" i="0">
                <a:solidFill>
                  <a:srgbClr val="B0C4DE"/>
                </a:solidFill>
                <a:latin typeface="Arial"/>
              </a:rPr>
              <a:t>AWS EC2 Graviton  (ARM64, Ubuntu 24.04)</a:t>
            </a:r>
          </a:p>
        </p:txBody>
      </p:sp>
      <p:sp>
        <p:nvSpPr>
          <p:cNvPr id="15" name="TextBox 14"/>
          <p:cNvSpPr txBox="1"/>
          <p:nvPr/>
        </p:nvSpPr>
        <p:spPr>
          <a:xfrm>
            <a:off x="594360" y="3611879"/>
            <a:ext cx="11064240" cy="822960"/>
          </a:xfrm>
          <a:prstGeom prst="rect">
            <a:avLst/>
          </a:prstGeom>
          <a:noFill/>
        </p:spPr>
        <p:txBody>
          <a:bodyPr wrap="square">
            <a:spAutoFit/>
          </a:bodyPr>
          <a:lstStyle/>
          <a:p>
            <a:pPr algn="l"/>
            <a:r>
              <a:rPr sz="1150" b="0" i="0">
                <a:solidFill>
                  <a:srgbClr val="B0C4DE"/>
                </a:solidFill>
                <a:latin typeface="Arial"/>
              </a:rPr>
              <a:t>• LD_PRELOAD shim で GPIO / SPI をインターセプト   • CUSE（Userspace キャラクタデバイス）で I2C をエミュレート   • Python WebSocket ブリッジ → ブラウザのインタラクティブ HW パネル</a:t>
            </a:r>
          </a:p>
        </p:txBody>
      </p:sp>
      <p:sp>
        <p:nvSpPr>
          <p:cNvPr id="16" name="TextBox 15"/>
          <p:cNvSpPr txBox="1"/>
          <p:nvPr/>
        </p:nvSpPr>
        <p:spPr>
          <a:xfrm>
            <a:off x="5029200" y="4617719"/>
            <a:ext cx="3657600" cy="228600"/>
          </a:xfrm>
          <a:prstGeom prst="rect">
            <a:avLst/>
          </a:prstGeom>
          <a:noFill/>
        </p:spPr>
        <p:txBody>
          <a:bodyPr wrap="square">
            <a:spAutoFit/>
          </a:bodyPr>
          <a:lstStyle/>
          <a:p>
            <a:pPr algn="ctr"/>
            <a:r>
              <a:rPr sz="1100" b="0" i="0">
                <a:solidFill>
                  <a:srgbClr val="00C8FF"/>
                </a:solidFill>
                <a:latin typeface="Arial"/>
              </a:rPr>
              <a:t>↓  cross-compile &amp; scp</a:t>
            </a:r>
          </a:p>
        </p:txBody>
      </p:sp>
      <p:sp>
        <p:nvSpPr>
          <p:cNvPr id="17" name="Rectangle 16"/>
          <p:cNvSpPr/>
          <p:nvPr/>
        </p:nvSpPr>
        <p:spPr>
          <a:xfrm>
            <a:off x="365760" y="4800600"/>
            <a:ext cx="11430000" cy="155448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365760" y="4800600"/>
            <a:ext cx="109728" cy="1554480"/>
          </a:xfrm>
          <a:prstGeom prst="rect">
            <a:avLst/>
          </a:prstGeom>
          <a:solidFill>
            <a:srgbClr val="00E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4873752"/>
            <a:ext cx="3200400" cy="411480"/>
          </a:xfrm>
          <a:prstGeom prst="rect">
            <a:avLst/>
          </a:prstGeom>
          <a:noFill/>
        </p:spPr>
        <p:txBody>
          <a:bodyPr wrap="square">
            <a:spAutoFit/>
          </a:bodyPr>
          <a:lstStyle/>
          <a:p>
            <a:pPr algn="l"/>
            <a:r>
              <a:rPr sz="1400" b="1" i="0">
                <a:solidFill>
                  <a:srgbClr val="00E09E"/>
                </a:solidFill>
                <a:latin typeface="Arial"/>
              </a:rPr>
              <a:t>Tier 3  実機層</a:t>
            </a:r>
          </a:p>
        </p:txBody>
      </p:sp>
      <p:sp>
        <p:nvSpPr>
          <p:cNvPr id="20" name="TextBox 19"/>
          <p:cNvSpPr txBox="1"/>
          <p:nvPr/>
        </p:nvSpPr>
        <p:spPr>
          <a:xfrm>
            <a:off x="3657600" y="4873752"/>
            <a:ext cx="7863840" cy="411480"/>
          </a:xfrm>
          <a:prstGeom prst="rect">
            <a:avLst/>
          </a:prstGeom>
          <a:noFill/>
        </p:spPr>
        <p:txBody>
          <a:bodyPr wrap="square">
            <a:spAutoFit/>
          </a:bodyPr>
          <a:lstStyle/>
          <a:p>
            <a:pPr algn="l"/>
            <a:r>
              <a:rPr sz="1300" b="0" i="0">
                <a:solidFill>
                  <a:srgbClr val="B0C4DE"/>
                </a:solidFill>
                <a:latin typeface="Arial"/>
              </a:rPr>
              <a:t>Raspberry Pi 5  (ARM64, Raspberry Pi OS)</a:t>
            </a:r>
          </a:p>
        </p:txBody>
      </p:sp>
      <p:sp>
        <p:nvSpPr>
          <p:cNvPr id="21" name="TextBox 20"/>
          <p:cNvSpPr txBox="1"/>
          <p:nvPr/>
        </p:nvSpPr>
        <p:spPr>
          <a:xfrm>
            <a:off x="594360" y="5349240"/>
            <a:ext cx="11064240" cy="822960"/>
          </a:xfrm>
          <a:prstGeom prst="rect">
            <a:avLst/>
          </a:prstGeom>
          <a:noFill/>
        </p:spPr>
        <p:txBody>
          <a:bodyPr wrap="square">
            <a:spAutoFit/>
          </a:bodyPr>
          <a:lstStyle/>
          <a:p>
            <a:pPr algn="l"/>
            <a:r>
              <a:rPr sz="1150" b="0" i="0">
                <a:solidFill>
                  <a:srgbClr val="B0C4DE"/>
                </a:solidFill>
                <a:latin typeface="Arial"/>
              </a:rPr>
              <a:t>• 同一バイナリを scp でデプロイ（変更なし）   • lgpio で実 GPIO / I2C / SPI デバイスを直接制御   • VL53L0X センサー・MFRC-522 RFID・SSD1306 OLED 動作確認済</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4572000" cy="457200"/>
          </a:xfrm>
          <a:prstGeom prst="rect">
            <a:avLst/>
          </a:prstGeom>
          <a:noFill/>
        </p:spPr>
        <p:txBody>
          <a:bodyPr wrap="square">
            <a:spAutoFit/>
          </a:bodyPr>
          <a:lstStyle/>
          <a:p>
            <a:pPr algn="l"/>
            <a:r>
              <a:rPr sz="1200" b="1" i="0">
                <a:solidFill>
                  <a:srgbClr val="7C3AED"/>
                </a:solidFill>
                <a:latin typeface="Arial"/>
              </a:rPr>
              <a:t>05  技術詳細</a:t>
            </a:r>
          </a:p>
        </p:txBody>
      </p:sp>
      <p:sp>
        <p:nvSpPr>
          <p:cNvPr id="4" name="TextBox 3"/>
          <p:cNvSpPr txBox="1"/>
          <p:nvPr/>
        </p:nvSpPr>
        <p:spPr>
          <a:xfrm>
            <a:off x="457200" y="457200"/>
            <a:ext cx="8229600" cy="640080"/>
          </a:xfrm>
          <a:prstGeom prst="rect">
            <a:avLst/>
          </a:prstGeom>
          <a:noFill/>
        </p:spPr>
        <p:txBody>
          <a:bodyPr wrap="square">
            <a:spAutoFit/>
          </a:bodyPr>
          <a:lstStyle/>
          <a:p>
            <a:pPr algn="l"/>
            <a:r>
              <a:rPr sz="2800" b="1" i="0">
                <a:solidFill>
                  <a:srgbClr val="FFFFFF"/>
                </a:solidFill>
                <a:latin typeface="Arial"/>
              </a:rPr>
              <a:t>ハードウェア仮想化の仕組み</a:t>
            </a:r>
          </a:p>
        </p:txBody>
      </p:sp>
      <p:sp>
        <p:nvSpPr>
          <p:cNvPr id="5" name="Rectangle 4"/>
          <p:cNvSpPr/>
          <p:nvPr/>
        </p:nvSpPr>
        <p:spPr>
          <a:xfrm>
            <a:off x="365760" y="1371600"/>
            <a:ext cx="2606040" cy="502920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71600"/>
            <a:ext cx="2606040" cy="914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54480"/>
            <a:ext cx="2331720" cy="822960"/>
          </a:xfrm>
          <a:prstGeom prst="rect">
            <a:avLst/>
          </a:prstGeom>
          <a:noFill/>
        </p:spPr>
        <p:txBody>
          <a:bodyPr wrap="square">
            <a:spAutoFit/>
          </a:bodyPr>
          <a:lstStyle/>
          <a:p>
            <a:pPr algn="l"/>
            <a:r>
              <a:rPr sz="1300" b="1" i="0">
                <a:solidFill>
                  <a:srgbClr val="FF6B35"/>
                </a:solidFill>
                <a:latin typeface="Arial"/>
              </a:rPr>
              <a:t>GPIO シム
gpio_shim.so</a:t>
            </a:r>
          </a:p>
        </p:txBody>
      </p:sp>
      <p:sp>
        <p:nvSpPr>
          <p:cNvPr id="8" name="TextBox 7"/>
          <p:cNvSpPr txBox="1"/>
          <p:nvPr/>
        </p:nvSpPr>
        <p:spPr>
          <a:xfrm>
            <a:off x="502920" y="2377440"/>
            <a:ext cx="2331720" cy="3749039"/>
          </a:xfrm>
          <a:prstGeom prst="rect">
            <a:avLst/>
          </a:prstGeom>
          <a:noFill/>
        </p:spPr>
        <p:txBody>
          <a:bodyPr wrap="square">
            <a:spAutoFit/>
          </a:bodyPr>
          <a:lstStyle/>
          <a:p>
            <a:pPr algn="l"/>
            <a:r>
              <a:rPr sz="1200" b="0" i="0">
                <a:solidFill>
                  <a:srgbClr val="B0C4DE"/>
                </a:solidFill>
                <a:latin typeface="Arial"/>
              </a:rPr>
              <a:t>LD_PRELOAD フック
/dev/gpiochip0 ioctl を
インターセプト
Unix ソケット経由で
LED 状態を送信
ボタン入力を注入</a:t>
            </a:r>
          </a:p>
        </p:txBody>
      </p:sp>
      <p:sp>
        <p:nvSpPr>
          <p:cNvPr id="9" name="Rectangle 8"/>
          <p:cNvSpPr/>
          <p:nvPr/>
        </p:nvSpPr>
        <p:spPr>
          <a:xfrm>
            <a:off x="3200400" y="1371600"/>
            <a:ext cx="2606040" cy="502920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3200400" y="1371600"/>
            <a:ext cx="260604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337560" y="1554480"/>
            <a:ext cx="2331720" cy="822960"/>
          </a:xfrm>
          <a:prstGeom prst="rect">
            <a:avLst/>
          </a:prstGeom>
          <a:noFill/>
        </p:spPr>
        <p:txBody>
          <a:bodyPr wrap="square">
            <a:spAutoFit/>
          </a:bodyPr>
          <a:lstStyle/>
          <a:p>
            <a:pPr algn="l"/>
            <a:r>
              <a:rPr sz="1300" b="1" i="0">
                <a:solidFill>
                  <a:srgbClr val="7C3AED"/>
                </a:solidFill>
                <a:latin typeface="Arial"/>
              </a:rPr>
              <a:t>I2C CUSE スタブ
cuse_i2c</a:t>
            </a:r>
          </a:p>
        </p:txBody>
      </p:sp>
      <p:sp>
        <p:nvSpPr>
          <p:cNvPr id="12" name="TextBox 11"/>
          <p:cNvSpPr txBox="1"/>
          <p:nvPr/>
        </p:nvSpPr>
        <p:spPr>
          <a:xfrm>
            <a:off x="3337560" y="2377440"/>
            <a:ext cx="2331720" cy="3749039"/>
          </a:xfrm>
          <a:prstGeom prst="rect">
            <a:avLst/>
          </a:prstGeom>
          <a:noFill/>
        </p:spPr>
        <p:txBody>
          <a:bodyPr wrap="square">
            <a:spAutoFit/>
          </a:bodyPr>
          <a:lstStyle/>
          <a:p>
            <a:pPr algn="l"/>
            <a:r>
              <a:rPr sz="1200" b="0" i="0">
                <a:solidFill>
                  <a:srgbClr val="B0C4DE"/>
                </a:solidFill>
                <a:latin typeface="Arial"/>
              </a:rPr>
              <a:t>FUSE3 で
/dev/i2c-1 仮想デバイス生成
アドレスで振り分け:
0x29 → VL53L0X
0x3C → SSD1306</a:t>
            </a:r>
          </a:p>
        </p:txBody>
      </p:sp>
      <p:sp>
        <p:nvSpPr>
          <p:cNvPr id="13" name="Rectangle 12"/>
          <p:cNvSpPr/>
          <p:nvPr/>
        </p:nvSpPr>
        <p:spPr>
          <a:xfrm>
            <a:off x="6035040" y="1371600"/>
            <a:ext cx="2606040" cy="502920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035040" y="1371600"/>
            <a:ext cx="2606040" cy="9144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72200" y="1554480"/>
            <a:ext cx="2331720" cy="822960"/>
          </a:xfrm>
          <a:prstGeom prst="rect">
            <a:avLst/>
          </a:prstGeom>
          <a:noFill/>
        </p:spPr>
        <p:txBody>
          <a:bodyPr wrap="square">
            <a:spAutoFit/>
          </a:bodyPr>
          <a:lstStyle/>
          <a:p>
            <a:pPr algn="l"/>
            <a:r>
              <a:rPr sz="1300" b="1" i="0">
                <a:solidFill>
                  <a:srgbClr val="00C8FF"/>
                </a:solidFill>
                <a:latin typeface="Arial"/>
              </a:rPr>
              <a:t>SPI シム
spi_shim.so</a:t>
            </a:r>
          </a:p>
        </p:txBody>
      </p:sp>
      <p:sp>
        <p:nvSpPr>
          <p:cNvPr id="16" name="TextBox 15"/>
          <p:cNvSpPr txBox="1"/>
          <p:nvPr/>
        </p:nvSpPr>
        <p:spPr>
          <a:xfrm>
            <a:off x="6172200" y="2377440"/>
            <a:ext cx="2331720" cy="3749039"/>
          </a:xfrm>
          <a:prstGeom prst="rect">
            <a:avLst/>
          </a:prstGeom>
          <a:noFill/>
        </p:spPr>
        <p:txBody>
          <a:bodyPr wrap="square">
            <a:spAutoFit/>
          </a:bodyPr>
          <a:lstStyle/>
          <a:p>
            <a:pPr algn="l"/>
            <a:r>
              <a:rPr sz="1200" b="0" i="0">
                <a:solidFill>
                  <a:srgbClr val="B0C4DE"/>
                </a:solidFill>
                <a:latin typeface="Arial"/>
              </a:rPr>
              <a:t>LD_PRELOAD フック
/dev/spidev0.0 ioctl
MFRC-522 レジスタ
プロトコルを
完全エミュレート</a:t>
            </a:r>
          </a:p>
        </p:txBody>
      </p:sp>
      <p:sp>
        <p:nvSpPr>
          <p:cNvPr id="17" name="Rectangle 16"/>
          <p:cNvSpPr/>
          <p:nvPr/>
        </p:nvSpPr>
        <p:spPr>
          <a:xfrm>
            <a:off x="8869680" y="1371600"/>
            <a:ext cx="2606040" cy="502920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869680" y="1371600"/>
            <a:ext cx="2606040" cy="91440"/>
          </a:xfrm>
          <a:prstGeom prst="rect">
            <a:avLst/>
          </a:prstGeom>
          <a:solidFill>
            <a:srgbClr val="00E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006840" y="1554480"/>
            <a:ext cx="2331720" cy="822960"/>
          </a:xfrm>
          <a:prstGeom prst="rect">
            <a:avLst/>
          </a:prstGeom>
          <a:noFill/>
        </p:spPr>
        <p:txBody>
          <a:bodyPr wrap="square">
            <a:spAutoFit/>
          </a:bodyPr>
          <a:lstStyle/>
          <a:p>
            <a:pPr algn="l"/>
            <a:r>
              <a:rPr sz="1300" b="1" i="0">
                <a:solidFill>
                  <a:srgbClr val="00E09E"/>
                </a:solidFill>
                <a:latin typeface="Arial"/>
              </a:rPr>
              <a:t>Web ブリッジ
bridge.py</a:t>
            </a:r>
          </a:p>
        </p:txBody>
      </p:sp>
      <p:sp>
        <p:nvSpPr>
          <p:cNvPr id="20" name="TextBox 19"/>
          <p:cNvSpPr txBox="1"/>
          <p:nvPr/>
        </p:nvSpPr>
        <p:spPr>
          <a:xfrm>
            <a:off x="9006840" y="2377440"/>
            <a:ext cx="2331720" cy="3749039"/>
          </a:xfrm>
          <a:prstGeom prst="rect">
            <a:avLst/>
          </a:prstGeom>
          <a:noFill/>
        </p:spPr>
        <p:txBody>
          <a:bodyPr wrap="square">
            <a:spAutoFit/>
          </a:bodyPr>
          <a:lstStyle/>
          <a:p>
            <a:pPr algn="l"/>
            <a:r>
              <a:rPr sz="1200" b="0" i="0">
                <a:solidFill>
                  <a:srgbClr val="B0C4DE"/>
                </a:solidFill>
                <a:latin typeface="Arial"/>
              </a:rPr>
              <a:t>Python asyncio
WebSocket ↔
Unix ソケット
ブラウザで
リアルタイム
HW 可視化</a:t>
            </a:r>
          </a:p>
        </p:txBody>
      </p:sp>
      <p:sp>
        <p:nvSpPr>
          <p:cNvPr id="21" name="TextBox 20"/>
          <p:cNvSpPr txBox="1"/>
          <p:nvPr/>
        </p:nvSpPr>
        <p:spPr>
          <a:xfrm>
            <a:off x="457200" y="6446520"/>
            <a:ext cx="11247120" cy="365760"/>
          </a:xfrm>
          <a:prstGeom prst="rect">
            <a:avLst/>
          </a:prstGeom>
          <a:noFill/>
        </p:spPr>
        <p:txBody>
          <a:bodyPr wrap="square">
            <a:spAutoFit/>
          </a:bodyPr>
          <a:lstStyle/>
          <a:p>
            <a:pPr algn="ctr"/>
            <a:r>
              <a:rPr sz="1200" b="0" i="0">
                <a:solidFill>
                  <a:srgbClr val="00E09E"/>
                </a:solidFill>
                <a:latin typeface="Arial"/>
              </a:rPr>
              <a:t>アプリケーションコードは EC2 シム / RasPi5 実機で完全に同一。LD_PRELOAD や CUSE は透過的に置き換わる。</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E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4572000" cy="457200"/>
          </a:xfrm>
          <a:prstGeom prst="rect">
            <a:avLst/>
          </a:prstGeom>
          <a:noFill/>
        </p:spPr>
        <p:txBody>
          <a:bodyPr wrap="square">
            <a:spAutoFit/>
          </a:bodyPr>
          <a:lstStyle/>
          <a:p>
            <a:pPr algn="l"/>
            <a:r>
              <a:rPr sz="1200" b="1" i="0">
                <a:solidFill>
                  <a:srgbClr val="00E09E"/>
                </a:solidFill>
                <a:latin typeface="Arial"/>
              </a:rPr>
              <a:t>06  実績・検証結果</a:t>
            </a:r>
          </a:p>
        </p:txBody>
      </p:sp>
      <p:sp>
        <p:nvSpPr>
          <p:cNvPr id="4" name="TextBox 3"/>
          <p:cNvSpPr txBox="1"/>
          <p:nvPr/>
        </p:nvSpPr>
        <p:spPr>
          <a:xfrm>
            <a:off x="457200" y="457200"/>
            <a:ext cx="8229600" cy="640080"/>
          </a:xfrm>
          <a:prstGeom prst="rect">
            <a:avLst/>
          </a:prstGeom>
          <a:noFill/>
        </p:spPr>
        <p:txBody>
          <a:bodyPr wrap="square">
            <a:spAutoFit/>
          </a:bodyPr>
          <a:lstStyle/>
          <a:p>
            <a:pPr algn="l"/>
            <a:r>
              <a:rPr sz="2800" b="1" i="0">
                <a:solidFill>
                  <a:srgbClr val="FFFFFF"/>
                </a:solidFill>
                <a:latin typeface="Arial"/>
              </a:rPr>
              <a:t>PoC で実証済みの機能</a:t>
            </a:r>
          </a:p>
        </p:txBody>
      </p:sp>
      <p:sp>
        <p:nvSpPr>
          <p:cNvPr id="5" name="Rectangle 4"/>
          <p:cNvSpPr/>
          <p:nvPr/>
        </p:nvSpPr>
        <p:spPr>
          <a:xfrm>
            <a:off x="365760" y="1371600"/>
            <a:ext cx="11338560" cy="64008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71600"/>
            <a:ext cx="11338560" cy="54864"/>
          </a:xfrm>
          <a:prstGeom prst="rect">
            <a:avLst/>
          </a:prstGeom>
          <a:solidFill>
            <a:srgbClr val="00E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411480" y="1508760"/>
            <a:ext cx="2286000" cy="365760"/>
          </a:xfrm>
          <a:prstGeom prst="rect">
            <a:avLst/>
          </a:prstGeom>
          <a:noFill/>
        </p:spPr>
        <p:txBody>
          <a:bodyPr wrap="square">
            <a:spAutoFit/>
          </a:bodyPr>
          <a:lstStyle/>
          <a:p>
            <a:pPr algn="l"/>
            <a:r>
              <a:rPr sz="1200" b="1" i="0">
                <a:solidFill>
                  <a:srgbClr val="00E09E"/>
                </a:solidFill>
                <a:latin typeface="Arial"/>
              </a:rPr>
              <a:t>コンポーネント</a:t>
            </a:r>
          </a:p>
        </p:txBody>
      </p:sp>
      <p:sp>
        <p:nvSpPr>
          <p:cNvPr id="8" name="TextBox 7"/>
          <p:cNvSpPr txBox="1"/>
          <p:nvPr/>
        </p:nvSpPr>
        <p:spPr>
          <a:xfrm>
            <a:off x="2697480" y="1508760"/>
            <a:ext cx="1645920" cy="365760"/>
          </a:xfrm>
          <a:prstGeom prst="rect">
            <a:avLst/>
          </a:prstGeom>
          <a:noFill/>
        </p:spPr>
        <p:txBody>
          <a:bodyPr wrap="square">
            <a:spAutoFit/>
          </a:bodyPr>
          <a:lstStyle/>
          <a:p>
            <a:pPr algn="l"/>
            <a:r>
              <a:rPr sz="1200" b="1" i="0">
                <a:solidFill>
                  <a:srgbClr val="00E09E"/>
                </a:solidFill>
                <a:latin typeface="Arial"/>
              </a:rPr>
              <a:t>インターフェース</a:t>
            </a:r>
          </a:p>
        </p:txBody>
      </p:sp>
      <p:sp>
        <p:nvSpPr>
          <p:cNvPr id="9" name="TextBox 8"/>
          <p:cNvSpPr txBox="1"/>
          <p:nvPr/>
        </p:nvSpPr>
        <p:spPr>
          <a:xfrm>
            <a:off x="4343400" y="1508760"/>
            <a:ext cx="2743200" cy="365760"/>
          </a:xfrm>
          <a:prstGeom prst="rect">
            <a:avLst/>
          </a:prstGeom>
          <a:noFill/>
        </p:spPr>
        <p:txBody>
          <a:bodyPr wrap="square">
            <a:spAutoFit/>
          </a:bodyPr>
          <a:lstStyle/>
          <a:p>
            <a:pPr algn="l"/>
            <a:r>
              <a:rPr sz="1200" b="1" i="0">
                <a:solidFill>
                  <a:srgbClr val="00E09E"/>
                </a:solidFill>
                <a:latin typeface="Arial"/>
              </a:rPr>
              <a:t>EC2 シム</a:t>
            </a:r>
          </a:p>
        </p:txBody>
      </p:sp>
      <p:sp>
        <p:nvSpPr>
          <p:cNvPr id="10" name="TextBox 9"/>
          <p:cNvSpPr txBox="1"/>
          <p:nvPr/>
        </p:nvSpPr>
        <p:spPr>
          <a:xfrm>
            <a:off x="7086600" y="1508760"/>
            <a:ext cx="2743200" cy="365760"/>
          </a:xfrm>
          <a:prstGeom prst="rect">
            <a:avLst/>
          </a:prstGeom>
          <a:noFill/>
        </p:spPr>
        <p:txBody>
          <a:bodyPr wrap="square">
            <a:spAutoFit/>
          </a:bodyPr>
          <a:lstStyle/>
          <a:p>
            <a:pPr algn="l"/>
            <a:r>
              <a:rPr sz="1200" b="1" i="0">
                <a:solidFill>
                  <a:srgbClr val="00E09E"/>
                </a:solidFill>
                <a:latin typeface="Arial"/>
              </a:rPr>
              <a:t>RasPi5 実機</a:t>
            </a:r>
          </a:p>
        </p:txBody>
      </p:sp>
      <p:sp>
        <p:nvSpPr>
          <p:cNvPr id="11" name="TextBox 10"/>
          <p:cNvSpPr txBox="1"/>
          <p:nvPr/>
        </p:nvSpPr>
        <p:spPr>
          <a:xfrm>
            <a:off x="9829800" y="1508760"/>
            <a:ext cx="1371600" cy="365760"/>
          </a:xfrm>
          <a:prstGeom prst="rect">
            <a:avLst/>
          </a:prstGeom>
          <a:noFill/>
        </p:spPr>
        <p:txBody>
          <a:bodyPr wrap="square">
            <a:spAutoFit/>
          </a:bodyPr>
          <a:lstStyle/>
          <a:p>
            <a:pPr algn="l"/>
            <a:r>
              <a:rPr sz="1200" b="1" i="0">
                <a:solidFill>
                  <a:srgbClr val="00E09E"/>
                </a:solidFill>
                <a:latin typeface="Arial"/>
              </a:rPr>
              <a:t>ステータス</a:t>
            </a:r>
          </a:p>
        </p:txBody>
      </p:sp>
      <p:sp>
        <p:nvSpPr>
          <p:cNvPr id="12" name="Rectangle 11"/>
          <p:cNvSpPr/>
          <p:nvPr/>
        </p:nvSpPr>
        <p:spPr>
          <a:xfrm>
            <a:off x="365760" y="2011680"/>
            <a:ext cx="11338560" cy="64008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11480" y="2176272"/>
            <a:ext cx="2286000" cy="365760"/>
          </a:xfrm>
          <a:prstGeom prst="rect">
            <a:avLst/>
          </a:prstGeom>
          <a:noFill/>
        </p:spPr>
        <p:txBody>
          <a:bodyPr wrap="square">
            <a:spAutoFit/>
          </a:bodyPr>
          <a:lstStyle/>
          <a:p>
            <a:pPr algn="l"/>
            <a:r>
              <a:rPr sz="1150" b="0" i="0">
                <a:solidFill>
                  <a:srgbClr val="FFFFFF"/>
                </a:solidFill>
                <a:latin typeface="Arial"/>
              </a:rPr>
              <a:t>LED + ボタン</a:t>
            </a:r>
          </a:p>
        </p:txBody>
      </p:sp>
      <p:sp>
        <p:nvSpPr>
          <p:cNvPr id="14" name="TextBox 13"/>
          <p:cNvSpPr txBox="1"/>
          <p:nvPr/>
        </p:nvSpPr>
        <p:spPr>
          <a:xfrm>
            <a:off x="2697480" y="2176272"/>
            <a:ext cx="1645920" cy="365760"/>
          </a:xfrm>
          <a:prstGeom prst="rect">
            <a:avLst/>
          </a:prstGeom>
          <a:noFill/>
        </p:spPr>
        <p:txBody>
          <a:bodyPr wrap="square">
            <a:spAutoFit/>
          </a:bodyPr>
          <a:lstStyle/>
          <a:p>
            <a:pPr algn="l"/>
            <a:r>
              <a:rPr sz="1150" b="0" i="0">
                <a:solidFill>
                  <a:srgbClr val="FFFFFF"/>
                </a:solidFill>
                <a:latin typeface="Arial"/>
              </a:rPr>
              <a:t>GPIO</a:t>
            </a:r>
          </a:p>
        </p:txBody>
      </p:sp>
      <p:sp>
        <p:nvSpPr>
          <p:cNvPr id="15" name="TextBox 14"/>
          <p:cNvSpPr txBox="1"/>
          <p:nvPr/>
        </p:nvSpPr>
        <p:spPr>
          <a:xfrm>
            <a:off x="4343400" y="2176272"/>
            <a:ext cx="2743200" cy="365760"/>
          </a:xfrm>
          <a:prstGeom prst="rect">
            <a:avLst/>
          </a:prstGeom>
          <a:noFill/>
        </p:spPr>
        <p:txBody>
          <a:bodyPr wrap="square">
            <a:spAutoFit/>
          </a:bodyPr>
          <a:lstStyle/>
          <a:p>
            <a:pPr algn="l"/>
            <a:r>
              <a:rPr sz="1150" b="0" i="0">
                <a:solidFill>
                  <a:srgbClr val="00E09E"/>
                </a:solidFill>
                <a:latin typeface="Arial"/>
              </a:rPr>
              <a:t>✅ 完全シミュレーション</a:t>
            </a:r>
          </a:p>
        </p:txBody>
      </p:sp>
      <p:sp>
        <p:nvSpPr>
          <p:cNvPr id="16" name="TextBox 15"/>
          <p:cNvSpPr txBox="1"/>
          <p:nvPr/>
        </p:nvSpPr>
        <p:spPr>
          <a:xfrm>
            <a:off x="7086600" y="2176272"/>
            <a:ext cx="2743200" cy="365760"/>
          </a:xfrm>
          <a:prstGeom prst="rect">
            <a:avLst/>
          </a:prstGeom>
          <a:noFill/>
        </p:spPr>
        <p:txBody>
          <a:bodyPr wrap="square">
            <a:spAutoFit/>
          </a:bodyPr>
          <a:lstStyle/>
          <a:p>
            <a:pPr algn="l"/>
            <a:r>
              <a:rPr sz="1150" b="0" i="0">
                <a:solidFill>
                  <a:srgbClr val="00E09E"/>
                </a:solidFill>
                <a:latin typeface="Arial"/>
              </a:rPr>
              <a:t>✅ 実機テスト済</a:t>
            </a:r>
          </a:p>
        </p:txBody>
      </p:sp>
      <p:sp>
        <p:nvSpPr>
          <p:cNvPr id="17" name="TextBox 16"/>
          <p:cNvSpPr txBox="1"/>
          <p:nvPr/>
        </p:nvSpPr>
        <p:spPr>
          <a:xfrm>
            <a:off x="9829800" y="2176272"/>
            <a:ext cx="1371600" cy="365760"/>
          </a:xfrm>
          <a:prstGeom prst="rect">
            <a:avLst/>
          </a:prstGeom>
          <a:noFill/>
        </p:spPr>
        <p:txBody>
          <a:bodyPr wrap="square">
            <a:spAutoFit/>
          </a:bodyPr>
          <a:lstStyle/>
          <a:p>
            <a:pPr algn="l"/>
            <a:r>
              <a:rPr sz="1150" b="0" i="0">
                <a:solidFill>
                  <a:srgbClr val="00E09E"/>
                </a:solidFill>
                <a:latin typeface="Arial"/>
              </a:rPr>
              <a:t>完了</a:t>
            </a:r>
          </a:p>
        </p:txBody>
      </p:sp>
      <p:sp>
        <p:nvSpPr>
          <p:cNvPr id="18" name="Rectangle 17"/>
          <p:cNvSpPr/>
          <p:nvPr/>
        </p:nvSpPr>
        <p:spPr>
          <a:xfrm>
            <a:off x="365760" y="2651760"/>
            <a:ext cx="11338560" cy="640080"/>
          </a:xfrm>
          <a:prstGeom prst="rect">
            <a:avLst/>
          </a:prstGeom>
          <a:solidFill>
            <a:srgbClr val="14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11480" y="2816352"/>
            <a:ext cx="2286000" cy="365760"/>
          </a:xfrm>
          <a:prstGeom prst="rect">
            <a:avLst/>
          </a:prstGeom>
          <a:noFill/>
        </p:spPr>
        <p:txBody>
          <a:bodyPr wrap="square">
            <a:spAutoFit/>
          </a:bodyPr>
          <a:lstStyle/>
          <a:p>
            <a:pPr algn="l"/>
            <a:r>
              <a:rPr sz="1150" b="0" i="0">
                <a:solidFill>
                  <a:srgbClr val="FFFFFF"/>
                </a:solidFill>
                <a:latin typeface="Arial"/>
              </a:rPr>
              <a:t>VL53L0X センサー</a:t>
            </a:r>
          </a:p>
        </p:txBody>
      </p:sp>
      <p:sp>
        <p:nvSpPr>
          <p:cNvPr id="20" name="TextBox 19"/>
          <p:cNvSpPr txBox="1"/>
          <p:nvPr/>
        </p:nvSpPr>
        <p:spPr>
          <a:xfrm>
            <a:off x="2697480" y="2816352"/>
            <a:ext cx="1645920" cy="365760"/>
          </a:xfrm>
          <a:prstGeom prst="rect">
            <a:avLst/>
          </a:prstGeom>
          <a:noFill/>
        </p:spPr>
        <p:txBody>
          <a:bodyPr wrap="square">
            <a:spAutoFit/>
          </a:bodyPr>
          <a:lstStyle/>
          <a:p>
            <a:pPr algn="l"/>
            <a:r>
              <a:rPr sz="1150" b="0" i="0">
                <a:solidFill>
                  <a:srgbClr val="FFFFFF"/>
                </a:solidFill>
                <a:latin typeface="Arial"/>
              </a:rPr>
              <a:t>I2C</a:t>
            </a:r>
          </a:p>
        </p:txBody>
      </p:sp>
      <p:sp>
        <p:nvSpPr>
          <p:cNvPr id="21" name="TextBox 20"/>
          <p:cNvSpPr txBox="1"/>
          <p:nvPr/>
        </p:nvSpPr>
        <p:spPr>
          <a:xfrm>
            <a:off x="4343400" y="2816352"/>
            <a:ext cx="2743200" cy="365760"/>
          </a:xfrm>
          <a:prstGeom prst="rect">
            <a:avLst/>
          </a:prstGeom>
          <a:noFill/>
        </p:spPr>
        <p:txBody>
          <a:bodyPr wrap="square">
            <a:spAutoFit/>
          </a:bodyPr>
          <a:lstStyle/>
          <a:p>
            <a:pPr algn="l"/>
            <a:r>
              <a:rPr sz="1150" b="0" i="0">
                <a:solidFill>
                  <a:srgbClr val="00E09E"/>
                </a:solidFill>
                <a:latin typeface="Arial"/>
              </a:rPr>
              <a:t>✅ レジスタエミュレーション</a:t>
            </a:r>
          </a:p>
        </p:txBody>
      </p:sp>
      <p:sp>
        <p:nvSpPr>
          <p:cNvPr id="22" name="TextBox 21"/>
          <p:cNvSpPr txBox="1"/>
          <p:nvPr/>
        </p:nvSpPr>
        <p:spPr>
          <a:xfrm>
            <a:off x="7086600" y="2816352"/>
            <a:ext cx="2743200" cy="365760"/>
          </a:xfrm>
          <a:prstGeom prst="rect">
            <a:avLst/>
          </a:prstGeom>
          <a:noFill/>
        </p:spPr>
        <p:txBody>
          <a:bodyPr wrap="square">
            <a:spAutoFit/>
          </a:bodyPr>
          <a:lstStyle/>
          <a:p>
            <a:pPr algn="l"/>
            <a:r>
              <a:rPr sz="1150" b="0" i="0">
                <a:solidFill>
                  <a:srgbClr val="00E09E"/>
                </a:solidFill>
                <a:latin typeface="Arial"/>
              </a:rPr>
              <a:t>✅ 実デバイス動作</a:t>
            </a:r>
          </a:p>
        </p:txBody>
      </p:sp>
      <p:sp>
        <p:nvSpPr>
          <p:cNvPr id="23" name="TextBox 22"/>
          <p:cNvSpPr txBox="1"/>
          <p:nvPr/>
        </p:nvSpPr>
        <p:spPr>
          <a:xfrm>
            <a:off x="9829800" y="2816352"/>
            <a:ext cx="1371600" cy="365760"/>
          </a:xfrm>
          <a:prstGeom prst="rect">
            <a:avLst/>
          </a:prstGeom>
          <a:noFill/>
        </p:spPr>
        <p:txBody>
          <a:bodyPr wrap="square">
            <a:spAutoFit/>
          </a:bodyPr>
          <a:lstStyle/>
          <a:p>
            <a:pPr algn="l"/>
            <a:r>
              <a:rPr sz="1150" b="0" i="0">
                <a:solidFill>
                  <a:srgbClr val="00E09E"/>
                </a:solidFill>
                <a:latin typeface="Arial"/>
              </a:rPr>
              <a:t>完了</a:t>
            </a:r>
          </a:p>
        </p:txBody>
      </p:sp>
      <p:sp>
        <p:nvSpPr>
          <p:cNvPr id="24" name="Rectangle 23"/>
          <p:cNvSpPr/>
          <p:nvPr/>
        </p:nvSpPr>
        <p:spPr>
          <a:xfrm>
            <a:off x="365760" y="3291840"/>
            <a:ext cx="11338560" cy="64008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11480" y="3456432"/>
            <a:ext cx="2286000" cy="365760"/>
          </a:xfrm>
          <a:prstGeom prst="rect">
            <a:avLst/>
          </a:prstGeom>
          <a:noFill/>
        </p:spPr>
        <p:txBody>
          <a:bodyPr wrap="square">
            <a:spAutoFit/>
          </a:bodyPr>
          <a:lstStyle/>
          <a:p>
            <a:pPr algn="l"/>
            <a:r>
              <a:rPr sz="1150" b="0" i="0">
                <a:solidFill>
                  <a:srgbClr val="FFFFFF"/>
                </a:solidFill>
                <a:latin typeface="Arial"/>
              </a:rPr>
              <a:t>MFRC-522 RFID</a:t>
            </a:r>
          </a:p>
        </p:txBody>
      </p:sp>
      <p:sp>
        <p:nvSpPr>
          <p:cNvPr id="26" name="TextBox 25"/>
          <p:cNvSpPr txBox="1"/>
          <p:nvPr/>
        </p:nvSpPr>
        <p:spPr>
          <a:xfrm>
            <a:off x="2697480" y="3456432"/>
            <a:ext cx="1645920" cy="365760"/>
          </a:xfrm>
          <a:prstGeom prst="rect">
            <a:avLst/>
          </a:prstGeom>
          <a:noFill/>
        </p:spPr>
        <p:txBody>
          <a:bodyPr wrap="square">
            <a:spAutoFit/>
          </a:bodyPr>
          <a:lstStyle/>
          <a:p>
            <a:pPr algn="l"/>
            <a:r>
              <a:rPr sz="1150" b="0" i="0">
                <a:solidFill>
                  <a:srgbClr val="FFFFFF"/>
                </a:solidFill>
                <a:latin typeface="Arial"/>
              </a:rPr>
              <a:t>SPI</a:t>
            </a:r>
          </a:p>
        </p:txBody>
      </p:sp>
      <p:sp>
        <p:nvSpPr>
          <p:cNvPr id="27" name="TextBox 26"/>
          <p:cNvSpPr txBox="1"/>
          <p:nvPr/>
        </p:nvSpPr>
        <p:spPr>
          <a:xfrm>
            <a:off x="4343400" y="3456432"/>
            <a:ext cx="2743200" cy="365760"/>
          </a:xfrm>
          <a:prstGeom prst="rect">
            <a:avLst/>
          </a:prstGeom>
          <a:noFill/>
        </p:spPr>
        <p:txBody>
          <a:bodyPr wrap="square">
            <a:spAutoFit/>
          </a:bodyPr>
          <a:lstStyle/>
          <a:p>
            <a:pPr algn="l"/>
            <a:r>
              <a:rPr sz="1150" b="0" i="0">
                <a:solidFill>
                  <a:srgbClr val="00E09E"/>
                </a:solidFill>
                <a:latin typeface="Arial"/>
              </a:rPr>
              <a:t>✅ レジスタエミュレーション</a:t>
            </a:r>
          </a:p>
        </p:txBody>
      </p:sp>
      <p:sp>
        <p:nvSpPr>
          <p:cNvPr id="28" name="TextBox 27"/>
          <p:cNvSpPr txBox="1"/>
          <p:nvPr/>
        </p:nvSpPr>
        <p:spPr>
          <a:xfrm>
            <a:off x="7086600" y="3456432"/>
            <a:ext cx="2743200" cy="365760"/>
          </a:xfrm>
          <a:prstGeom prst="rect">
            <a:avLst/>
          </a:prstGeom>
          <a:noFill/>
        </p:spPr>
        <p:txBody>
          <a:bodyPr wrap="square">
            <a:spAutoFit/>
          </a:bodyPr>
          <a:lstStyle/>
          <a:p>
            <a:pPr algn="l"/>
            <a:r>
              <a:rPr sz="1150" b="0" i="0">
                <a:solidFill>
                  <a:srgbClr val="00E09E"/>
                </a:solidFill>
                <a:latin typeface="Arial"/>
              </a:rPr>
              <a:t>✅ カード読み取り</a:t>
            </a:r>
          </a:p>
        </p:txBody>
      </p:sp>
      <p:sp>
        <p:nvSpPr>
          <p:cNvPr id="29" name="TextBox 28"/>
          <p:cNvSpPr txBox="1"/>
          <p:nvPr/>
        </p:nvSpPr>
        <p:spPr>
          <a:xfrm>
            <a:off x="9829800" y="3456432"/>
            <a:ext cx="1371600" cy="365760"/>
          </a:xfrm>
          <a:prstGeom prst="rect">
            <a:avLst/>
          </a:prstGeom>
          <a:noFill/>
        </p:spPr>
        <p:txBody>
          <a:bodyPr wrap="square">
            <a:spAutoFit/>
          </a:bodyPr>
          <a:lstStyle/>
          <a:p>
            <a:pPr algn="l"/>
            <a:r>
              <a:rPr sz="1150" b="0" i="0">
                <a:solidFill>
                  <a:srgbClr val="00E09E"/>
                </a:solidFill>
                <a:latin typeface="Arial"/>
              </a:rPr>
              <a:t>完了</a:t>
            </a:r>
          </a:p>
        </p:txBody>
      </p:sp>
      <p:sp>
        <p:nvSpPr>
          <p:cNvPr id="30" name="Rectangle 29"/>
          <p:cNvSpPr/>
          <p:nvPr/>
        </p:nvSpPr>
        <p:spPr>
          <a:xfrm>
            <a:off x="365760" y="3931920"/>
            <a:ext cx="11338560" cy="640080"/>
          </a:xfrm>
          <a:prstGeom prst="rect">
            <a:avLst/>
          </a:prstGeom>
          <a:solidFill>
            <a:srgbClr val="1420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411480" y="4096512"/>
            <a:ext cx="2286000" cy="365760"/>
          </a:xfrm>
          <a:prstGeom prst="rect">
            <a:avLst/>
          </a:prstGeom>
          <a:noFill/>
        </p:spPr>
        <p:txBody>
          <a:bodyPr wrap="square">
            <a:spAutoFit/>
          </a:bodyPr>
          <a:lstStyle/>
          <a:p>
            <a:pPr algn="l"/>
            <a:r>
              <a:rPr sz="1150" b="0" i="0">
                <a:solidFill>
                  <a:srgbClr val="FFFFFF"/>
                </a:solidFill>
                <a:latin typeface="Arial"/>
              </a:rPr>
              <a:t>SSD1306 OLED</a:t>
            </a:r>
          </a:p>
        </p:txBody>
      </p:sp>
      <p:sp>
        <p:nvSpPr>
          <p:cNvPr id="32" name="TextBox 31"/>
          <p:cNvSpPr txBox="1"/>
          <p:nvPr/>
        </p:nvSpPr>
        <p:spPr>
          <a:xfrm>
            <a:off x="2697480" y="4096512"/>
            <a:ext cx="1645920" cy="365760"/>
          </a:xfrm>
          <a:prstGeom prst="rect">
            <a:avLst/>
          </a:prstGeom>
          <a:noFill/>
        </p:spPr>
        <p:txBody>
          <a:bodyPr wrap="square">
            <a:spAutoFit/>
          </a:bodyPr>
          <a:lstStyle/>
          <a:p>
            <a:pPr algn="l"/>
            <a:r>
              <a:rPr sz="1150" b="0" i="0">
                <a:solidFill>
                  <a:srgbClr val="FFFFFF"/>
                </a:solidFill>
                <a:latin typeface="Arial"/>
              </a:rPr>
              <a:t>I2C</a:t>
            </a:r>
          </a:p>
        </p:txBody>
      </p:sp>
      <p:sp>
        <p:nvSpPr>
          <p:cNvPr id="33" name="TextBox 32"/>
          <p:cNvSpPr txBox="1"/>
          <p:nvPr/>
        </p:nvSpPr>
        <p:spPr>
          <a:xfrm>
            <a:off x="4343400" y="4096512"/>
            <a:ext cx="2743200" cy="365760"/>
          </a:xfrm>
          <a:prstGeom prst="rect">
            <a:avLst/>
          </a:prstGeom>
          <a:noFill/>
        </p:spPr>
        <p:txBody>
          <a:bodyPr wrap="square">
            <a:spAutoFit/>
          </a:bodyPr>
          <a:lstStyle/>
          <a:p>
            <a:pPr algn="l"/>
            <a:r>
              <a:rPr sz="1150" b="0" i="0">
                <a:solidFill>
                  <a:srgbClr val="00E09E"/>
                </a:solidFill>
                <a:latin typeface="Arial"/>
              </a:rPr>
              <a:t>✅ フレームバッファ→Canvas</a:t>
            </a:r>
          </a:p>
        </p:txBody>
      </p:sp>
      <p:sp>
        <p:nvSpPr>
          <p:cNvPr id="34" name="TextBox 33"/>
          <p:cNvSpPr txBox="1"/>
          <p:nvPr/>
        </p:nvSpPr>
        <p:spPr>
          <a:xfrm>
            <a:off x="7086600" y="4096512"/>
            <a:ext cx="2743200" cy="365760"/>
          </a:xfrm>
          <a:prstGeom prst="rect">
            <a:avLst/>
          </a:prstGeom>
          <a:noFill/>
        </p:spPr>
        <p:txBody>
          <a:bodyPr wrap="square">
            <a:spAutoFit/>
          </a:bodyPr>
          <a:lstStyle/>
          <a:p>
            <a:pPr algn="l"/>
            <a:r>
              <a:rPr sz="1150" b="0" i="0">
                <a:solidFill>
                  <a:srgbClr val="FFD700"/>
                </a:solidFill>
                <a:latin typeface="Arial"/>
              </a:rPr>
              <a:t>⏳ モジュール待ち</a:t>
            </a:r>
          </a:p>
        </p:txBody>
      </p:sp>
      <p:sp>
        <p:nvSpPr>
          <p:cNvPr id="35" name="TextBox 34"/>
          <p:cNvSpPr txBox="1"/>
          <p:nvPr/>
        </p:nvSpPr>
        <p:spPr>
          <a:xfrm>
            <a:off x="9829800" y="4096512"/>
            <a:ext cx="1371600" cy="365760"/>
          </a:xfrm>
          <a:prstGeom prst="rect">
            <a:avLst/>
          </a:prstGeom>
          <a:noFill/>
        </p:spPr>
        <p:txBody>
          <a:bodyPr wrap="square">
            <a:spAutoFit/>
          </a:bodyPr>
          <a:lstStyle/>
          <a:p>
            <a:pPr algn="l"/>
            <a:r>
              <a:rPr sz="1150" b="0" i="0">
                <a:solidFill>
                  <a:srgbClr val="FFD700"/>
                </a:solidFill>
                <a:latin typeface="Arial"/>
              </a:rPr>
              <a:t>進行中</a:t>
            </a:r>
          </a:p>
        </p:txBody>
      </p:sp>
      <p:sp>
        <p:nvSpPr>
          <p:cNvPr id="36" name="Rectangle 35"/>
          <p:cNvSpPr/>
          <p:nvPr/>
        </p:nvSpPr>
        <p:spPr>
          <a:xfrm>
            <a:off x="365760" y="4572000"/>
            <a:ext cx="11338560" cy="64008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411480" y="4736592"/>
            <a:ext cx="2286000" cy="365760"/>
          </a:xfrm>
          <a:prstGeom prst="rect">
            <a:avLst/>
          </a:prstGeom>
          <a:noFill/>
        </p:spPr>
        <p:txBody>
          <a:bodyPr wrap="square">
            <a:spAutoFit/>
          </a:bodyPr>
          <a:lstStyle/>
          <a:p>
            <a:pPr algn="l"/>
            <a:r>
              <a:rPr sz="1150" b="0" i="0">
                <a:solidFill>
                  <a:srgbClr val="FFFFFF"/>
                </a:solidFill>
                <a:latin typeface="Arial"/>
              </a:rPr>
              <a:t>Web パネル</a:t>
            </a:r>
          </a:p>
        </p:txBody>
      </p:sp>
      <p:sp>
        <p:nvSpPr>
          <p:cNvPr id="38" name="TextBox 37"/>
          <p:cNvSpPr txBox="1"/>
          <p:nvPr/>
        </p:nvSpPr>
        <p:spPr>
          <a:xfrm>
            <a:off x="2697480" y="4736592"/>
            <a:ext cx="1645920" cy="365760"/>
          </a:xfrm>
          <a:prstGeom prst="rect">
            <a:avLst/>
          </a:prstGeom>
          <a:noFill/>
        </p:spPr>
        <p:txBody>
          <a:bodyPr wrap="square">
            <a:spAutoFit/>
          </a:bodyPr>
          <a:lstStyle/>
          <a:p>
            <a:pPr algn="l"/>
            <a:r>
              <a:rPr sz="1150" b="0" i="0">
                <a:solidFill>
                  <a:srgbClr val="FFFFFF"/>
                </a:solidFill>
                <a:latin typeface="Arial"/>
              </a:rPr>
              <a:t>WebSocket</a:t>
            </a:r>
          </a:p>
        </p:txBody>
      </p:sp>
      <p:sp>
        <p:nvSpPr>
          <p:cNvPr id="39" name="TextBox 38"/>
          <p:cNvSpPr txBox="1"/>
          <p:nvPr/>
        </p:nvSpPr>
        <p:spPr>
          <a:xfrm>
            <a:off x="4343400" y="4736592"/>
            <a:ext cx="2743200" cy="365760"/>
          </a:xfrm>
          <a:prstGeom prst="rect">
            <a:avLst/>
          </a:prstGeom>
          <a:noFill/>
        </p:spPr>
        <p:txBody>
          <a:bodyPr wrap="square">
            <a:spAutoFit/>
          </a:bodyPr>
          <a:lstStyle/>
          <a:p>
            <a:pPr algn="l"/>
            <a:r>
              <a:rPr sz="1150" b="0" i="0">
                <a:solidFill>
                  <a:srgbClr val="00E09E"/>
                </a:solidFill>
                <a:latin typeface="Arial"/>
              </a:rPr>
              <a:t>✅ リアルタイム操作</a:t>
            </a:r>
          </a:p>
        </p:txBody>
      </p:sp>
      <p:sp>
        <p:nvSpPr>
          <p:cNvPr id="40" name="TextBox 39"/>
          <p:cNvSpPr txBox="1"/>
          <p:nvPr/>
        </p:nvSpPr>
        <p:spPr>
          <a:xfrm>
            <a:off x="7086600" y="4736592"/>
            <a:ext cx="2743200" cy="365760"/>
          </a:xfrm>
          <a:prstGeom prst="rect">
            <a:avLst/>
          </a:prstGeom>
          <a:noFill/>
        </p:spPr>
        <p:txBody>
          <a:bodyPr wrap="square">
            <a:spAutoFit/>
          </a:bodyPr>
          <a:lstStyle/>
          <a:p>
            <a:pPr algn="l"/>
            <a:r>
              <a:rPr sz="1150" b="0" i="0">
                <a:solidFill>
                  <a:srgbClr val="FFFFFF"/>
                </a:solidFill>
                <a:latin typeface="Arial"/>
              </a:rPr>
              <a:t>—</a:t>
            </a:r>
          </a:p>
        </p:txBody>
      </p:sp>
      <p:sp>
        <p:nvSpPr>
          <p:cNvPr id="41" name="TextBox 40"/>
          <p:cNvSpPr txBox="1"/>
          <p:nvPr/>
        </p:nvSpPr>
        <p:spPr>
          <a:xfrm>
            <a:off x="9829800" y="4736592"/>
            <a:ext cx="1371600" cy="365760"/>
          </a:xfrm>
          <a:prstGeom prst="rect">
            <a:avLst/>
          </a:prstGeom>
          <a:noFill/>
        </p:spPr>
        <p:txBody>
          <a:bodyPr wrap="square">
            <a:spAutoFit/>
          </a:bodyPr>
          <a:lstStyle/>
          <a:p>
            <a:pPr algn="l"/>
            <a:r>
              <a:rPr sz="1150" b="0" i="0">
                <a:solidFill>
                  <a:srgbClr val="00E09E"/>
                </a:solidFill>
                <a:latin typeface="Arial"/>
              </a:rPr>
              <a:t>完了</a:t>
            </a:r>
          </a:p>
        </p:txBody>
      </p:sp>
      <p:sp>
        <p:nvSpPr>
          <p:cNvPr id="42" name="Rectangle 41"/>
          <p:cNvSpPr/>
          <p:nvPr/>
        </p:nvSpPr>
        <p:spPr>
          <a:xfrm>
            <a:off x="365760" y="5897880"/>
            <a:ext cx="3566160" cy="82296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365760" y="5897880"/>
            <a:ext cx="91440" cy="82296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548640" y="5943600"/>
            <a:ext cx="1371600" cy="457200"/>
          </a:xfrm>
          <a:prstGeom prst="rect">
            <a:avLst/>
          </a:prstGeom>
          <a:noFill/>
        </p:spPr>
        <p:txBody>
          <a:bodyPr wrap="square">
            <a:spAutoFit/>
          </a:bodyPr>
          <a:lstStyle/>
          <a:p>
            <a:pPr algn="l"/>
            <a:r>
              <a:rPr sz="2200" b="1" i="0">
                <a:solidFill>
                  <a:srgbClr val="00C8FF"/>
                </a:solidFill>
                <a:latin typeface="Arial"/>
              </a:rPr>
              <a:t>~1,700 行</a:t>
            </a:r>
          </a:p>
        </p:txBody>
      </p:sp>
      <p:sp>
        <p:nvSpPr>
          <p:cNvPr id="45" name="TextBox 44"/>
          <p:cNvSpPr txBox="1"/>
          <p:nvPr/>
        </p:nvSpPr>
        <p:spPr>
          <a:xfrm>
            <a:off x="1920240" y="5989320"/>
            <a:ext cx="1828800" cy="640080"/>
          </a:xfrm>
          <a:prstGeom prst="rect">
            <a:avLst/>
          </a:prstGeom>
          <a:noFill/>
        </p:spPr>
        <p:txBody>
          <a:bodyPr wrap="square">
            <a:spAutoFit/>
          </a:bodyPr>
          <a:lstStyle/>
          <a:p>
            <a:pPr algn="l"/>
            <a:r>
              <a:rPr sz="1100" b="0" i="0">
                <a:solidFill>
                  <a:srgbClr val="B0C4DE"/>
                </a:solidFill>
                <a:latin typeface="Arial"/>
              </a:rPr>
              <a:t>C コード</a:t>
            </a:r>
          </a:p>
        </p:txBody>
      </p:sp>
      <p:sp>
        <p:nvSpPr>
          <p:cNvPr id="46" name="Rectangle 45"/>
          <p:cNvSpPr/>
          <p:nvPr/>
        </p:nvSpPr>
        <p:spPr>
          <a:xfrm>
            <a:off x="4206240" y="5897880"/>
            <a:ext cx="3566160" cy="82296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Rectangle 46"/>
          <p:cNvSpPr/>
          <p:nvPr/>
        </p:nvSpPr>
        <p:spPr>
          <a:xfrm>
            <a:off x="4206240" y="5897880"/>
            <a:ext cx="91440" cy="8229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389120" y="5943600"/>
            <a:ext cx="1371600" cy="457200"/>
          </a:xfrm>
          <a:prstGeom prst="rect">
            <a:avLst/>
          </a:prstGeom>
          <a:noFill/>
        </p:spPr>
        <p:txBody>
          <a:bodyPr wrap="square">
            <a:spAutoFit/>
          </a:bodyPr>
          <a:lstStyle/>
          <a:p>
            <a:pPr algn="l"/>
            <a:r>
              <a:rPr sz="2200" b="1" i="0">
                <a:solidFill>
                  <a:srgbClr val="7C3AED"/>
                </a:solidFill>
                <a:latin typeface="Arial"/>
              </a:rPr>
              <a:t>3 種</a:t>
            </a:r>
          </a:p>
        </p:txBody>
      </p:sp>
      <p:sp>
        <p:nvSpPr>
          <p:cNvPr id="49" name="TextBox 48"/>
          <p:cNvSpPr txBox="1"/>
          <p:nvPr/>
        </p:nvSpPr>
        <p:spPr>
          <a:xfrm>
            <a:off x="5760720" y="5989320"/>
            <a:ext cx="1828800" cy="640080"/>
          </a:xfrm>
          <a:prstGeom prst="rect">
            <a:avLst/>
          </a:prstGeom>
          <a:noFill/>
        </p:spPr>
        <p:txBody>
          <a:bodyPr wrap="square">
            <a:spAutoFit/>
          </a:bodyPr>
          <a:lstStyle/>
          <a:p>
            <a:pPr algn="l"/>
            <a:r>
              <a:rPr sz="1100" b="0" i="0">
                <a:solidFill>
                  <a:srgbClr val="B0C4DE"/>
                </a:solidFill>
                <a:latin typeface="Arial"/>
              </a:rPr>
              <a:t>HW I/F
(GPIO/I2C/SPI)</a:t>
            </a:r>
          </a:p>
        </p:txBody>
      </p:sp>
      <p:sp>
        <p:nvSpPr>
          <p:cNvPr id="50" name="Rectangle 49"/>
          <p:cNvSpPr/>
          <p:nvPr/>
        </p:nvSpPr>
        <p:spPr>
          <a:xfrm>
            <a:off x="8046720" y="5897880"/>
            <a:ext cx="3566160" cy="82296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Rectangle 50"/>
          <p:cNvSpPr/>
          <p:nvPr/>
        </p:nvSpPr>
        <p:spPr>
          <a:xfrm>
            <a:off x="8046720" y="5897880"/>
            <a:ext cx="91440" cy="822960"/>
          </a:xfrm>
          <a:prstGeom prst="rect">
            <a:avLst/>
          </a:prstGeom>
          <a:solidFill>
            <a:srgbClr val="00E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8229600" y="5943600"/>
            <a:ext cx="1371600" cy="457200"/>
          </a:xfrm>
          <a:prstGeom prst="rect">
            <a:avLst/>
          </a:prstGeom>
          <a:noFill/>
        </p:spPr>
        <p:txBody>
          <a:bodyPr wrap="square">
            <a:spAutoFit/>
          </a:bodyPr>
          <a:lstStyle/>
          <a:p>
            <a:pPr algn="l"/>
            <a:r>
              <a:rPr sz="2200" b="1" i="0">
                <a:solidFill>
                  <a:srgbClr val="00E09E"/>
                </a:solidFill>
                <a:latin typeface="Arial"/>
              </a:rPr>
              <a:t>0 行</a:t>
            </a:r>
          </a:p>
        </p:txBody>
      </p:sp>
      <p:sp>
        <p:nvSpPr>
          <p:cNvPr id="53" name="TextBox 52"/>
          <p:cNvSpPr txBox="1"/>
          <p:nvPr/>
        </p:nvSpPr>
        <p:spPr>
          <a:xfrm>
            <a:off x="9601200" y="5989320"/>
            <a:ext cx="1828800" cy="640080"/>
          </a:xfrm>
          <a:prstGeom prst="rect">
            <a:avLst/>
          </a:prstGeom>
          <a:noFill/>
        </p:spPr>
        <p:txBody>
          <a:bodyPr wrap="square">
            <a:spAutoFit/>
          </a:bodyPr>
          <a:lstStyle/>
          <a:p>
            <a:pPr algn="l"/>
            <a:r>
              <a:rPr sz="1100" b="0" i="0">
                <a:solidFill>
                  <a:srgbClr val="B0C4DE"/>
                </a:solidFill>
                <a:latin typeface="Arial"/>
              </a:rPr>
              <a:t>実機向け
コード変更</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4572000" cy="457200"/>
          </a:xfrm>
          <a:prstGeom prst="rect">
            <a:avLst/>
          </a:prstGeom>
          <a:noFill/>
        </p:spPr>
        <p:txBody>
          <a:bodyPr wrap="square">
            <a:spAutoFit/>
          </a:bodyPr>
          <a:lstStyle/>
          <a:p>
            <a:pPr algn="l"/>
            <a:r>
              <a:rPr sz="1200" b="1" i="0">
                <a:solidFill>
                  <a:srgbClr val="FFD700"/>
                </a:solidFill>
                <a:latin typeface="Arial"/>
              </a:rPr>
              <a:t>07  AI 活用の可能性</a:t>
            </a:r>
          </a:p>
        </p:txBody>
      </p:sp>
      <p:sp>
        <p:nvSpPr>
          <p:cNvPr id="4" name="TextBox 3"/>
          <p:cNvSpPr txBox="1"/>
          <p:nvPr/>
        </p:nvSpPr>
        <p:spPr>
          <a:xfrm>
            <a:off x="457200" y="457200"/>
            <a:ext cx="9144000" cy="640080"/>
          </a:xfrm>
          <a:prstGeom prst="rect">
            <a:avLst/>
          </a:prstGeom>
          <a:noFill/>
        </p:spPr>
        <p:txBody>
          <a:bodyPr wrap="square">
            <a:spAutoFit/>
          </a:bodyPr>
          <a:lstStyle/>
          <a:p>
            <a:pPr algn="l"/>
            <a:r>
              <a:rPr sz="3000" b="1" i="0">
                <a:solidFill>
                  <a:srgbClr val="FFFFFF"/>
                </a:solidFill>
                <a:latin typeface="Arial"/>
              </a:rPr>
              <a:t>Claude Code × 組み込み開発</a:t>
            </a:r>
          </a:p>
        </p:txBody>
      </p:sp>
      <p:sp>
        <p:nvSpPr>
          <p:cNvPr id="5" name="TextBox 4"/>
          <p:cNvSpPr txBox="1"/>
          <p:nvPr/>
        </p:nvSpPr>
        <p:spPr>
          <a:xfrm>
            <a:off x="457200" y="1097280"/>
            <a:ext cx="11247120" cy="457200"/>
          </a:xfrm>
          <a:prstGeom prst="rect">
            <a:avLst/>
          </a:prstGeom>
          <a:noFill/>
        </p:spPr>
        <p:txBody>
          <a:bodyPr wrap="square">
            <a:spAutoFit/>
          </a:bodyPr>
          <a:lstStyle/>
          <a:p>
            <a:pPr algn="l"/>
            <a:r>
              <a:rPr sz="1500" b="0" i="1">
                <a:solidFill>
                  <a:srgbClr val="B0C4DE"/>
                </a:solidFill>
                <a:latin typeface="Arial"/>
              </a:rPr>
              <a:t>本環境はクラウド上の AI との親和性が高く、AI-Driven 開発フローへの拡張が自然に行える</a:t>
            </a:r>
          </a:p>
        </p:txBody>
      </p:sp>
      <p:sp>
        <p:nvSpPr>
          <p:cNvPr id="6" name="Rectangle 5"/>
          <p:cNvSpPr/>
          <p:nvPr/>
        </p:nvSpPr>
        <p:spPr>
          <a:xfrm>
            <a:off x="365760" y="1828800"/>
            <a:ext cx="5486400" cy="192024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365760" y="1828800"/>
            <a:ext cx="109728" cy="192024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94360" y="1920240"/>
            <a:ext cx="5029200" cy="457200"/>
          </a:xfrm>
          <a:prstGeom prst="rect">
            <a:avLst/>
          </a:prstGeom>
          <a:noFill/>
        </p:spPr>
        <p:txBody>
          <a:bodyPr wrap="square">
            <a:spAutoFit/>
          </a:bodyPr>
          <a:lstStyle/>
          <a:p>
            <a:pPr algn="l"/>
            <a:r>
              <a:rPr sz="1500" b="1" i="0">
                <a:solidFill>
                  <a:srgbClr val="00C8FF"/>
                </a:solidFill>
                <a:latin typeface="Arial"/>
              </a:rPr>
              <a:t>💡  ドライバコード生成</a:t>
            </a:r>
          </a:p>
        </p:txBody>
      </p:sp>
      <p:sp>
        <p:nvSpPr>
          <p:cNvPr id="9" name="TextBox 8"/>
          <p:cNvSpPr txBox="1"/>
          <p:nvPr/>
        </p:nvSpPr>
        <p:spPr>
          <a:xfrm>
            <a:off x="594360" y="2423160"/>
            <a:ext cx="5029200" cy="1188720"/>
          </a:xfrm>
          <a:prstGeom prst="rect">
            <a:avLst/>
          </a:prstGeom>
          <a:noFill/>
        </p:spPr>
        <p:txBody>
          <a:bodyPr wrap="square">
            <a:spAutoFit/>
          </a:bodyPr>
          <a:lstStyle/>
          <a:p>
            <a:pPr algn="l"/>
            <a:r>
              <a:rPr sz="1250" b="0" i="0">
                <a:solidFill>
                  <a:srgbClr val="B0C4DE"/>
                </a:solidFill>
                <a:latin typeface="Arial"/>
              </a:rPr>
              <a:t>Claude Code が I2C / SPI デバイスのドライバを
自動生成 → CUSE スタブで即テスト
実機なしで動作確認が完結</a:t>
            </a:r>
          </a:p>
        </p:txBody>
      </p:sp>
      <p:sp>
        <p:nvSpPr>
          <p:cNvPr id="10" name="Rectangle 9"/>
          <p:cNvSpPr/>
          <p:nvPr/>
        </p:nvSpPr>
        <p:spPr>
          <a:xfrm>
            <a:off x="6217920" y="1828800"/>
            <a:ext cx="5486400" cy="192024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1828800"/>
            <a:ext cx="109728" cy="19202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46520" y="1920240"/>
            <a:ext cx="5029200" cy="457200"/>
          </a:xfrm>
          <a:prstGeom prst="rect">
            <a:avLst/>
          </a:prstGeom>
          <a:noFill/>
        </p:spPr>
        <p:txBody>
          <a:bodyPr wrap="square">
            <a:spAutoFit/>
          </a:bodyPr>
          <a:lstStyle/>
          <a:p>
            <a:pPr algn="l"/>
            <a:r>
              <a:rPr sz="1500" b="1" i="0">
                <a:solidFill>
                  <a:srgbClr val="7C3AED"/>
                </a:solidFill>
                <a:latin typeface="Arial"/>
              </a:rPr>
              <a:t>🧪  自動テストシナリオ</a:t>
            </a:r>
          </a:p>
        </p:txBody>
      </p:sp>
      <p:sp>
        <p:nvSpPr>
          <p:cNvPr id="13" name="TextBox 12"/>
          <p:cNvSpPr txBox="1"/>
          <p:nvPr/>
        </p:nvSpPr>
        <p:spPr>
          <a:xfrm>
            <a:off x="6446520" y="2423160"/>
            <a:ext cx="5029200" cy="1188720"/>
          </a:xfrm>
          <a:prstGeom prst="rect">
            <a:avLst/>
          </a:prstGeom>
          <a:noFill/>
        </p:spPr>
        <p:txBody>
          <a:bodyPr wrap="square">
            <a:spAutoFit/>
          </a:bodyPr>
          <a:lstStyle/>
          <a:p>
            <a:pPr algn="l"/>
            <a:r>
              <a:rPr sz="1250" b="0" i="0">
                <a:solidFill>
                  <a:srgbClr val="B0C4DE"/>
                </a:solidFill>
                <a:latin typeface="Arial"/>
              </a:rPr>
              <a:t>AI がシミュレーション環境に仮想センサー値を注入
境界値・異常値を自動生成してテスト
CI/CD パイプラインに組み込み可能</a:t>
            </a:r>
          </a:p>
        </p:txBody>
      </p:sp>
      <p:sp>
        <p:nvSpPr>
          <p:cNvPr id="14" name="Rectangle 13"/>
          <p:cNvSpPr/>
          <p:nvPr/>
        </p:nvSpPr>
        <p:spPr>
          <a:xfrm>
            <a:off x="365760" y="4023360"/>
            <a:ext cx="5486400" cy="192024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365760" y="4023360"/>
            <a:ext cx="109728" cy="1920240"/>
          </a:xfrm>
          <a:prstGeom prst="rect">
            <a:avLst/>
          </a:prstGeom>
          <a:solidFill>
            <a:srgbClr val="00E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4114800"/>
            <a:ext cx="5029200" cy="457200"/>
          </a:xfrm>
          <a:prstGeom prst="rect">
            <a:avLst/>
          </a:prstGeom>
          <a:noFill/>
        </p:spPr>
        <p:txBody>
          <a:bodyPr wrap="square">
            <a:spAutoFit/>
          </a:bodyPr>
          <a:lstStyle/>
          <a:p>
            <a:pPr algn="l"/>
            <a:r>
              <a:rPr sz="1500" b="1" i="0">
                <a:solidFill>
                  <a:srgbClr val="00E09E"/>
                </a:solidFill>
                <a:latin typeface="Arial"/>
              </a:rPr>
              <a:t>📊  ハードウェアトレース解析</a:t>
            </a:r>
          </a:p>
        </p:txBody>
      </p:sp>
      <p:sp>
        <p:nvSpPr>
          <p:cNvPr id="17" name="TextBox 16"/>
          <p:cNvSpPr txBox="1"/>
          <p:nvPr/>
        </p:nvSpPr>
        <p:spPr>
          <a:xfrm>
            <a:off x="594360" y="4617720"/>
            <a:ext cx="5029200" cy="1188720"/>
          </a:xfrm>
          <a:prstGeom prst="rect">
            <a:avLst/>
          </a:prstGeom>
          <a:noFill/>
        </p:spPr>
        <p:txBody>
          <a:bodyPr wrap="square">
            <a:spAutoFit/>
          </a:bodyPr>
          <a:lstStyle/>
          <a:p>
            <a:pPr algn="l"/>
            <a:r>
              <a:rPr sz="1250" b="0" i="0">
                <a:solidFill>
                  <a:srgbClr val="B0C4DE"/>
                </a:solidFill>
                <a:latin typeface="Arial"/>
              </a:rPr>
              <a:t>GPIO / I2C / SPI のトレースログを AI に渡し
バグ原因を自動推定・修正提案
デバッグ工数を大幅削減</a:t>
            </a:r>
          </a:p>
        </p:txBody>
      </p:sp>
      <p:sp>
        <p:nvSpPr>
          <p:cNvPr id="18" name="Rectangle 17"/>
          <p:cNvSpPr/>
          <p:nvPr/>
        </p:nvSpPr>
        <p:spPr>
          <a:xfrm>
            <a:off x="6217920" y="4023360"/>
            <a:ext cx="5486400" cy="192024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023360"/>
            <a:ext cx="109728" cy="19202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46520" y="4114800"/>
            <a:ext cx="5029200" cy="457200"/>
          </a:xfrm>
          <a:prstGeom prst="rect">
            <a:avLst/>
          </a:prstGeom>
          <a:noFill/>
        </p:spPr>
        <p:txBody>
          <a:bodyPr wrap="square">
            <a:spAutoFit/>
          </a:bodyPr>
          <a:lstStyle/>
          <a:p>
            <a:pPr algn="l"/>
            <a:r>
              <a:rPr sz="1500" b="1" i="0">
                <a:solidFill>
                  <a:srgbClr val="FF6B35"/>
                </a:solidFill>
                <a:latin typeface="Arial"/>
              </a:rPr>
              <a:t>🚀  コード品質ゲート</a:t>
            </a:r>
          </a:p>
        </p:txBody>
      </p:sp>
      <p:sp>
        <p:nvSpPr>
          <p:cNvPr id="21" name="TextBox 20"/>
          <p:cNvSpPr txBox="1"/>
          <p:nvPr/>
        </p:nvSpPr>
        <p:spPr>
          <a:xfrm>
            <a:off x="6446520" y="4617720"/>
            <a:ext cx="5029200" cy="1188720"/>
          </a:xfrm>
          <a:prstGeom prst="rect">
            <a:avLst/>
          </a:prstGeom>
          <a:noFill/>
        </p:spPr>
        <p:txBody>
          <a:bodyPr wrap="square">
            <a:spAutoFit/>
          </a:bodyPr>
          <a:lstStyle/>
          <a:p>
            <a:pPr algn="l"/>
            <a:r>
              <a:rPr sz="1250" b="0" i="0">
                <a:solidFill>
                  <a:srgbClr val="B0C4DE"/>
                </a:solidFill>
                <a:latin typeface="Arial"/>
              </a:rPr>
              <a:t>PR 時に AI がドライバコードをレビュー
メモリ安全性・タイミング問題を静的解析
ハードウェア起因のバグを事前に防止</a:t>
            </a:r>
          </a:p>
        </p:txBody>
      </p:sp>
      <p:sp>
        <p:nvSpPr>
          <p:cNvPr id="22" name="TextBox 21"/>
          <p:cNvSpPr txBox="1"/>
          <p:nvPr/>
        </p:nvSpPr>
        <p:spPr>
          <a:xfrm>
            <a:off x="457200" y="6446520"/>
            <a:ext cx="11247120" cy="365760"/>
          </a:xfrm>
          <a:prstGeom prst="rect">
            <a:avLst/>
          </a:prstGeom>
          <a:noFill/>
        </p:spPr>
        <p:txBody>
          <a:bodyPr wrap="square">
            <a:spAutoFit/>
          </a:bodyPr>
          <a:lstStyle/>
          <a:p>
            <a:pPr algn="ctr"/>
            <a:r>
              <a:rPr sz="1300" b="1" i="0">
                <a:solidFill>
                  <a:srgbClr val="FFD700"/>
                </a:solidFill>
                <a:latin typeface="Arial"/>
              </a:rPr>
              <a:t>→ AI は「クラウドに閉じた存在」だからこそ、クラウドで完結する本仮想 HW 環境と相性が最高</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54864"/>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137160"/>
            <a:ext cx="4572000" cy="457200"/>
          </a:xfrm>
          <a:prstGeom prst="rect">
            <a:avLst/>
          </a:prstGeom>
          <a:noFill/>
        </p:spPr>
        <p:txBody>
          <a:bodyPr wrap="square">
            <a:spAutoFit/>
          </a:bodyPr>
          <a:lstStyle/>
          <a:p>
            <a:pPr algn="l"/>
            <a:r>
              <a:rPr sz="1200" b="1" i="0">
                <a:solidFill>
                  <a:srgbClr val="00C8FF"/>
                </a:solidFill>
                <a:latin typeface="Arial"/>
              </a:rPr>
              <a:t>08  ロードマップ</a:t>
            </a:r>
          </a:p>
        </p:txBody>
      </p:sp>
      <p:sp>
        <p:nvSpPr>
          <p:cNvPr id="4" name="TextBox 3"/>
          <p:cNvSpPr txBox="1"/>
          <p:nvPr/>
        </p:nvSpPr>
        <p:spPr>
          <a:xfrm>
            <a:off x="457200" y="457200"/>
            <a:ext cx="8229600" cy="640080"/>
          </a:xfrm>
          <a:prstGeom prst="rect">
            <a:avLst/>
          </a:prstGeom>
          <a:noFill/>
        </p:spPr>
        <p:txBody>
          <a:bodyPr wrap="square">
            <a:spAutoFit/>
          </a:bodyPr>
          <a:lstStyle/>
          <a:p>
            <a:pPr algn="l"/>
            <a:r>
              <a:rPr sz="2800" b="1" i="0">
                <a:solidFill>
                  <a:srgbClr val="FFFFFF"/>
                </a:solidFill>
                <a:latin typeface="Arial"/>
              </a:rPr>
              <a:t>今後の展開・拡張計画</a:t>
            </a:r>
          </a:p>
        </p:txBody>
      </p:sp>
      <p:sp>
        <p:nvSpPr>
          <p:cNvPr id="5" name="Rectangle 4"/>
          <p:cNvSpPr/>
          <p:nvPr/>
        </p:nvSpPr>
        <p:spPr>
          <a:xfrm>
            <a:off x="365760" y="1371600"/>
            <a:ext cx="2651760" cy="512064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365760" y="1371600"/>
            <a:ext cx="2651760" cy="91440"/>
          </a:xfrm>
          <a:prstGeom prst="rect">
            <a:avLst/>
          </a:prstGeom>
          <a:solidFill>
            <a:srgbClr val="00E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508760"/>
            <a:ext cx="2377440" cy="365760"/>
          </a:xfrm>
          <a:prstGeom prst="rect">
            <a:avLst/>
          </a:prstGeom>
          <a:noFill/>
        </p:spPr>
        <p:txBody>
          <a:bodyPr wrap="square">
            <a:spAutoFit/>
          </a:bodyPr>
          <a:lstStyle/>
          <a:p>
            <a:pPr algn="l"/>
            <a:r>
              <a:rPr sz="1100" b="1" i="0">
                <a:solidFill>
                  <a:srgbClr val="00E09E"/>
                </a:solidFill>
                <a:latin typeface="Arial"/>
              </a:rPr>
              <a:t>Phase 1</a:t>
            </a:r>
          </a:p>
        </p:txBody>
      </p:sp>
      <p:sp>
        <p:nvSpPr>
          <p:cNvPr id="8" name="TextBox 7"/>
          <p:cNvSpPr txBox="1"/>
          <p:nvPr/>
        </p:nvSpPr>
        <p:spPr>
          <a:xfrm>
            <a:off x="502920" y="1828800"/>
            <a:ext cx="2377440" cy="548640"/>
          </a:xfrm>
          <a:prstGeom prst="rect">
            <a:avLst/>
          </a:prstGeom>
          <a:noFill/>
        </p:spPr>
        <p:txBody>
          <a:bodyPr wrap="square">
            <a:spAutoFit/>
          </a:bodyPr>
          <a:lstStyle/>
          <a:p>
            <a:pPr algn="l"/>
            <a:r>
              <a:rPr sz="1250" b="1" i="0">
                <a:solidFill>
                  <a:srgbClr val="FFFFFF"/>
                </a:solidFill>
                <a:latin typeface="Arial"/>
              </a:rPr>
              <a:t>Now  ✅ PoC 完了</a:t>
            </a:r>
          </a:p>
        </p:txBody>
      </p:sp>
      <p:sp>
        <p:nvSpPr>
          <p:cNvPr id="9" name="TextBox 8"/>
          <p:cNvSpPr txBox="1"/>
          <p:nvPr/>
        </p:nvSpPr>
        <p:spPr>
          <a:xfrm>
            <a:off x="502920" y="2514600"/>
            <a:ext cx="2377440" cy="1005840"/>
          </a:xfrm>
          <a:prstGeom prst="rect">
            <a:avLst/>
          </a:prstGeom>
          <a:noFill/>
        </p:spPr>
        <p:txBody>
          <a:bodyPr wrap="square">
            <a:spAutoFit/>
          </a:bodyPr>
          <a:lstStyle/>
          <a:p>
            <a:pPr algn="l"/>
            <a:r>
              <a:rPr sz="1150" b="0" i="0">
                <a:solidFill>
                  <a:srgbClr val="B0C4DE"/>
                </a:solidFill>
                <a:latin typeface="Arial"/>
              </a:rPr>
              <a:t>• GPIO / I2C / SPI シミュレーション確立</a:t>
            </a:r>
          </a:p>
        </p:txBody>
      </p:sp>
      <p:sp>
        <p:nvSpPr>
          <p:cNvPr id="10" name="TextBox 9"/>
          <p:cNvSpPr txBox="1"/>
          <p:nvPr/>
        </p:nvSpPr>
        <p:spPr>
          <a:xfrm>
            <a:off x="502920" y="3611880"/>
            <a:ext cx="2377440" cy="1005840"/>
          </a:xfrm>
          <a:prstGeom prst="rect">
            <a:avLst/>
          </a:prstGeom>
          <a:noFill/>
        </p:spPr>
        <p:txBody>
          <a:bodyPr wrap="square">
            <a:spAutoFit/>
          </a:bodyPr>
          <a:lstStyle/>
          <a:p>
            <a:pPr algn="l"/>
            <a:r>
              <a:rPr sz="1150" b="0" i="0">
                <a:solidFill>
                  <a:srgbClr val="B0C4DE"/>
                </a:solidFill>
                <a:latin typeface="Arial"/>
              </a:rPr>
              <a:t>• EC2 Graviton 上でブラウザ HW パネル稼働</a:t>
            </a:r>
          </a:p>
        </p:txBody>
      </p:sp>
      <p:sp>
        <p:nvSpPr>
          <p:cNvPr id="11" name="TextBox 10"/>
          <p:cNvSpPr txBox="1"/>
          <p:nvPr/>
        </p:nvSpPr>
        <p:spPr>
          <a:xfrm>
            <a:off x="502920" y="4709160"/>
            <a:ext cx="2377440" cy="1005840"/>
          </a:xfrm>
          <a:prstGeom prst="rect">
            <a:avLst/>
          </a:prstGeom>
          <a:noFill/>
        </p:spPr>
        <p:txBody>
          <a:bodyPr wrap="square">
            <a:spAutoFit/>
          </a:bodyPr>
          <a:lstStyle/>
          <a:p>
            <a:pPr algn="l"/>
            <a:r>
              <a:rPr sz="1150" b="0" i="0">
                <a:solidFill>
                  <a:srgbClr val="B0C4DE"/>
                </a:solidFill>
                <a:latin typeface="Arial"/>
              </a:rPr>
              <a:t>• RasPi5 実機デプロイ（同一バイナリ）検証済</a:t>
            </a:r>
          </a:p>
        </p:txBody>
      </p:sp>
      <p:sp>
        <p:nvSpPr>
          <p:cNvPr id="12" name="Rectangle 11"/>
          <p:cNvSpPr/>
          <p:nvPr/>
        </p:nvSpPr>
        <p:spPr>
          <a:xfrm>
            <a:off x="3200400" y="1371600"/>
            <a:ext cx="2651760" cy="512064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00400" y="1371600"/>
            <a:ext cx="2651760" cy="9144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337560" y="1508760"/>
            <a:ext cx="2377440" cy="365760"/>
          </a:xfrm>
          <a:prstGeom prst="rect">
            <a:avLst/>
          </a:prstGeom>
          <a:noFill/>
        </p:spPr>
        <p:txBody>
          <a:bodyPr wrap="square">
            <a:spAutoFit/>
          </a:bodyPr>
          <a:lstStyle/>
          <a:p>
            <a:pPr algn="l"/>
            <a:r>
              <a:rPr sz="1100" b="1" i="0">
                <a:solidFill>
                  <a:srgbClr val="00C8FF"/>
                </a:solidFill>
                <a:latin typeface="Arial"/>
              </a:rPr>
              <a:t>Phase 2</a:t>
            </a:r>
          </a:p>
        </p:txBody>
      </p:sp>
      <p:sp>
        <p:nvSpPr>
          <p:cNvPr id="15" name="TextBox 14"/>
          <p:cNvSpPr txBox="1"/>
          <p:nvPr/>
        </p:nvSpPr>
        <p:spPr>
          <a:xfrm>
            <a:off x="3337560" y="1828800"/>
            <a:ext cx="2377440" cy="548640"/>
          </a:xfrm>
          <a:prstGeom prst="rect">
            <a:avLst/>
          </a:prstGeom>
          <a:noFill/>
        </p:spPr>
        <p:txBody>
          <a:bodyPr wrap="square">
            <a:spAutoFit/>
          </a:bodyPr>
          <a:lstStyle/>
          <a:p>
            <a:pPr algn="l"/>
            <a:r>
              <a:rPr sz="1250" b="1" i="0">
                <a:solidFill>
                  <a:srgbClr val="FFFFFF"/>
                </a:solidFill>
                <a:latin typeface="Arial"/>
              </a:rPr>
              <a:t>Next  🔧 機能拡張</a:t>
            </a:r>
          </a:p>
        </p:txBody>
      </p:sp>
      <p:sp>
        <p:nvSpPr>
          <p:cNvPr id="16" name="TextBox 15"/>
          <p:cNvSpPr txBox="1"/>
          <p:nvPr/>
        </p:nvSpPr>
        <p:spPr>
          <a:xfrm>
            <a:off x="3337560" y="2514600"/>
            <a:ext cx="2377440" cy="1005840"/>
          </a:xfrm>
          <a:prstGeom prst="rect">
            <a:avLst/>
          </a:prstGeom>
          <a:noFill/>
        </p:spPr>
        <p:txBody>
          <a:bodyPr wrap="square">
            <a:spAutoFit/>
          </a:bodyPr>
          <a:lstStyle/>
          <a:p>
            <a:pPr algn="l"/>
            <a:r>
              <a:rPr sz="1150" b="0" i="0">
                <a:solidFill>
                  <a:srgbClr val="B0C4DE"/>
                </a:solidFill>
                <a:latin typeface="Arial"/>
              </a:rPr>
              <a:t>• SSD1306 OLED シミュレーション完成</a:t>
            </a:r>
          </a:p>
        </p:txBody>
      </p:sp>
      <p:sp>
        <p:nvSpPr>
          <p:cNvPr id="17" name="TextBox 16"/>
          <p:cNvSpPr txBox="1"/>
          <p:nvPr/>
        </p:nvSpPr>
        <p:spPr>
          <a:xfrm>
            <a:off x="3337560" y="3611880"/>
            <a:ext cx="2377440" cy="1005840"/>
          </a:xfrm>
          <a:prstGeom prst="rect">
            <a:avLst/>
          </a:prstGeom>
          <a:noFill/>
        </p:spPr>
        <p:txBody>
          <a:bodyPr wrap="square">
            <a:spAutoFit/>
          </a:bodyPr>
          <a:lstStyle/>
          <a:p>
            <a:pPr algn="l"/>
            <a:r>
              <a:rPr sz="1150" b="0" i="0">
                <a:solidFill>
                  <a:srgbClr val="B0C4DE"/>
                </a:solidFill>
                <a:latin typeface="Arial"/>
              </a:rPr>
              <a:t>• LCD HAT (ST7789) シム追加</a:t>
            </a:r>
          </a:p>
        </p:txBody>
      </p:sp>
      <p:sp>
        <p:nvSpPr>
          <p:cNvPr id="18" name="TextBox 17"/>
          <p:cNvSpPr txBox="1"/>
          <p:nvPr/>
        </p:nvSpPr>
        <p:spPr>
          <a:xfrm>
            <a:off x="3337560" y="4709160"/>
            <a:ext cx="2377440" cy="1005840"/>
          </a:xfrm>
          <a:prstGeom prst="rect">
            <a:avLst/>
          </a:prstGeom>
          <a:noFill/>
        </p:spPr>
        <p:txBody>
          <a:bodyPr wrap="square">
            <a:spAutoFit/>
          </a:bodyPr>
          <a:lstStyle/>
          <a:p>
            <a:pPr algn="l"/>
            <a:r>
              <a:rPr sz="1150" b="0" i="0">
                <a:solidFill>
                  <a:srgbClr val="B0C4DE"/>
                </a:solidFill>
                <a:latin typeface="Arial"/>
              </a:rPr>
              <a:t>• CI/CD パイプライン統合（GitHub Actions）</a:t>
            </a:r>
          </a:p>
        </p:txBody>
      </p:sp>
      <p:sp>
        <p:nvSpPr>
          <p:cNvPr id="19" name="Rectangle 18"/>
          <p:cNvSpPr/>
          <p:nvPr/>
        </p:nvSpPr>
        <p:spPr>
          <a:xfrm>
            <a:off x="6035040" y="1371600"/>
            <a:ext cx="2651760" cy="512064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6035040" y="1371600"/>
            <a:ext cx="265176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172200" y="1508760"/>
            <a:ext cx="2377440" cy="365760"/>
          </a:xfrm>
          <a:prstGeom prst="rect">
            <a:avLst/>
          </a:prstGeom>
          <a:noFill/>
        </p:spPr>
        <p:txBody>
          <a:bodyPr wrap="square">
            <a:spAutoFit/>
          </a:bodyPr>
          <a:lstStyle/>
          <a:p>
            <a:pPr algn="l"/>
            <a:r>
              <a:rPr sz="1100" b="1" i="0">
                <a:solidFill>
                  <a:srgbClr val="7C3AED"/>
                </a:solidFill>
                <a:latin typeface="Arial"/>
              </a:rPr>
              <a:t>Phase 3</a:t>
            </a:r>
          </a:p>
        </p:txBody>
      </p:sp>
      <p:sp>
        <p:nvSpPr>
          <p:cNvPr id="22" name="TextBox 21"/>
          <p:cNvSpPr txBox="1"/>
          <p:nvPr/>
        </p:nvSpPr>
        <p:spPr>
          <a:xfrm>
            <a:off x="6172200" y="1828800"/>
            <a:ext cx="2377440" cy="548640"/>
          </a:xfrm>
          <a:prstGeom prst="rect">
            <a:avLst/>
          </a:prstGeom>
          <a:noFill/>
        </p:spPr>
        <p:txBody>
          <a:bodyPr wrap="square">
            <a:spAutoFit/>
          </a:bodyPr>
          <a:lstStyle/>
          <a:p>
            <a:pPr algn="l"/>
            <a:r>
              <a:rPr sz="1250" b="1" i="0">
                <a:solidFill>
                  <a:srgbClr val="FFFFFF"/>
                </a:solidFill>
                <a:latin typeface="Arial"/>
              </a:rPr>
              <a:t>Future  🚀 AI 統合</a:t>
            </a:r>
          </a:p>
        </p:txBody>
      </p:sp>
      <p:sp>
        <p:nvSpPr>
          <p:cNvPr id="23" name="TextBox 22"/>
          <p:cNvSpPr txBox="1"/>
          <p:nvPr/>
        </p:nvSpPr>
        <p:spPr>
          <a:xfrm>
            <a:off x="6172200" y="2514600"/>
            <a:ext cx="2377440" cy="1005840"/>
          </a:xfrm>
          <a:prstGeom prst="rect">
            <a:avLst/>
          </a:prstGeom>
          <a:noFill/>
        </p:spPr>
        <p:txBody>
          <a:bodyPr wrap="square">
            <a:spAutoFit/>
          </a:bodyPr>
          <a:lstStyle/>
          <a:p>
            <a:pPr algn="l"/>
            <a:r>
              <a:rPr sz="1150" b="0" i="0">
                <a:solidFill>
                  <a:srgbClr val="B0C4DE"/>
                </a:solidFill>
                <a:latin typeface="Arial"/>
              </a:rPr>
              <a:t>• Claude Code によるドライバ自動生成フロー</a:t>
            </a:r>
          </a:p>
        </p:txBody>
      </p:sp>
      <p:sp>
        <p:nvSpPr>
          <p:cNvPr id="24" name="TextBox 23"/>
          <p:cNvSpPr txBox="1"/>
          <p:nvPr/>
        </p:nvSpPr>
        <p:spPr>
          <a:xfrm>
            <a:off x="6172200" y="3611880"/>
            <a:ext cx="2377440" cy="1005840"/>
          </a:xfrm>
          <a:prstGeom prst="rect">
            <a:avLst/>
          </a:prstGeom>
          <a:noFill/>
        </p:spPr>
        <p:txBody>
          <a:bodyPr wrap="square">
            <a:spAutoFit/>
          </a:bodyPr>
          <a:lstStyle/>
          <a:p>
            <a:pPr algn="l"/>
            <a:r>
              <a:rPr sz="1150" b="0" i="0">
                <a:solidFill>
                  <a:srgbClr val="B0C4DE"/>
                </a:solidFill>
                <a:latin typeface="Arial"/>
              </a:rPr>
              <a:t>• AI 自動テストシナリオ生成</a:t>
            </a:r>
          </a:p>
        </p:txBody>
      </p:sp>
      <p:sp>
        <p:nvSpPr>
          <p:cNvPr id="25" name="TextBox 24"/>
          <p:cNvSpPr txBox="1"/>
          <p:nvPr/>
        </p:nvSpPr>
        <p:spPr>
          <a:xfrm>
            <a:off x="6172200" y="4709160"/>
            <a:ext cx="2377440" cy="1005840"/>
          </a:xfrm>
          <a:prstGeom prst="rect">
            <a:avLst/>
          </a:prstGeom>
          <a:noFill/>
        </p:spPr>
        <p:txBody>
          <a:bodyPr wrap="square">
            <a:spAutoFit/>
          </a:bodyPr>
          <a:lstStyle/>
          <a:p>
            <a:pPr algn="l"/>
            <a:r>
              <a:rPr sz="1150" b="0" i="0">
                <a:solidFill>
                  <a:srgbClr val="B0C4DE"/>
                </a:solidFill>
                <a:latin typeface="Arial"/>
              </a:rPr>
              <a:t>• 複数デバイス対応（Jetson Nano, BeagleBone）</a:t>
            </a:r>
          </a:p>
        </p:txBody>
      </p:sp>
      <p:sp>
        <p:nvSpPr>
          <p:cNvPr id="26" name="Rectangle 25"/>
          <p:cNvSpPr/>
          <p:nvPr/>
        </p:nvSpPr>
        <p:spPr>
          <a:xfrm>
            <a:off x="8869680" y="1371600"/>
            <a:ext cx="2651760" cy="512064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8869680" y="1371600"/>
            <a:ext cx="2651760" cy="91440"/>
          </a:xfrm>
          <a:prstGeom prst="rect">
            <a:avLst/>
          </a:prstGeom>
          <a:solidFill>
            <a:srgbClr val="FFD7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006840" y="1508760"/>
            <a:ext cx="2377440" cy="365760"/>
          </a:xfrm>
          <a:prstGeom prst="rect">
            <a:avLst/>
          </a:prstGeom>
          <a:noFill/>
        </p:spPr>
        <p:txBody>
          <a:bodyPr wrap="square">
            <a:spAutoFit/>
          </a:bodyPr>
          <a:lstStyle/>
          <a:p>
            <a:pPr algn="l"/>
            <a:r>
              <a:rPr sz="1100" b="1" i="0">
                <a:solidFill>
                  <a:srgbClr val="FFD700"/>
                </a:solidFill>
                <a:latin typeface="Arial"/>
              </a:rPr>
              <a:t>Phase 4</a:t>
            </a:r>
          </a:p>
        </p:txBody>
      </p:sp>
      <p:sp>
        <p:nvSpPr>
          <p:cNvPr id="29" name="TextBox 28"/>
          <p:cNvSpPr txBox="1"/>
          <p:nvPr/>
        </p:nvSpPr>
        <p:spPr>
          <a:xfrm>
            <a:off x="9006840" y="1828800"/>
            <a:ext cx="2377440" cy="548640"/>
          </a:xfrm>
          <a:prstGeom prst="rect">
            <a:avLst/>
          </a:prstGeom>
          <a:noFill/>
        </p:spPr>
        <p:txBody>
          <a:bodyPr wrap="square">
            <a:spAutoFit/>
          </a:bodyPr>
          <a:lstStyle/>
          <a:p>
            <a:pPr algn="l"/>
            <a:r>
              <a:rPr sz="1250" b="1" i="0">
                <a:solidFill>
                  <a:srgbClr val="FFFFFF"/>
                </a:solidFill>
                <a:latin typeface="Arial"/>
              </a:rPr>
              <a:t>Vision  🌐 製品化</a:t>
            </a:r>
          </a:p>
        </p:txBody>
      </p:sp>
      <p:sp>
        <p:nvSpPr>
          <p:cNvPr id="30" name="TextBox 29"/>
          <p:cNvSpPr txBox="1"/>
          <p:nvPr/>
        </p:nvSpPr>
        <p:spPr>
          <a:xfrm>
            <a:off x="9006840" y="2514600"/>
            <a:ext cx="2377440" cy="1005840"/>
          </a:xfrm>
          <a:prstGeom prst="rect">
            <a:avLst/>
          </a:prstGeom>
          <a:noFill/>
        </p:spPr>
        <p:txBody>
          <a:bodyPr wrap="square">
            <a:spAutoFit/>
          </a:bodyPr>
          <a:lstStyle/>
          <a:p>
            <a:pPr algn="l"/>
            <a:r>
              <a:rPr sz="1150" b="0" i="0">
                <a:solidFill>
                  <a:srgbClr val="B0C4DE"/>
                </a:solidFill>
                <a:latin typeface="Arial"/>
              </a:rPr>
              <a:t>• SaaS 型仮想 HW 環境プラットフォーム</a:t>
            </a:r>
          </a:p>
        </p:txBody>
      </p:sp>
      <p:sp>
        <p:nvSpPr>
          <p:cNvPr id="31" name="TextBox 30"/>
          <p:cNvSpPr txBox="1"/>
          <p:nvPr/>
        </p:nvSpPr>
        <p:spPr>
          <a:xfrm>
            <a:off x="9006840" y="3611880"/>
            <a:ext cx="2377440" cy="1005840"/>
          </a:xfrm>
          <a:prstGeom prst="rect">
            <a:avLst/>
          </a:prstGeom>
          <a:noFill/>
        </p:spPr>
        <p:txBody>
          <a:bodyPr wrap="square">
            <a:spAutoFit/>
          </a:bodyPr>
          <a:lstStyle/>
          <a:p>
            <a:pPr algn="l"/>
            <a:r>
              <a:rPr sz="1150" b="0" i="0">
                <a:solidFill>
                  <a:srgbClr val="B0C4DE"/>
                </a:solidFill>
                <a:latin typeface="Arial"/>
              </a:rPr>
              <a:t>• 企業向け組み込み CI/CD ソリューション</a:t>
            </a:r>
          </a:p>
        </p:txBody>
      </p:sp>
      <p:sp>
        <p:nvSpPr>
          <p:cNvPr id="32" name="TextBox 31"/>
          <p:cNvSpPr txBox="1"/>
          <p:nvPr/>
        </p:nvSpPr>
        <p:spPr>
          <a:xfrm>
            <a:off x="9006840" y="4709160"/>
            <a:ext cx="2377440" cy="1005840"/>
          </a:xfrm>
          <a:prstGeom prst="rect">
            <a:avLst/>
          </a:prstGeom>
          <a:noFill/>
        </p:spPr>
        <p:txBody>
          <a:bodyPr wrap="square">
            <a:spAutoFit/>
          </a:bodyPr>
          <a:lstStyle/>
          <a:p>
            <a:pPr algn="l"/>
            <a:r>
              <a:rPr sz="1150" b="0" i="0">
                <a:solidFill>
                  <a:srgbClr val="B0C4DE"/>
                </a:solidFill>
                <a:latin typeface="Arial"/>
              </a:rPr>
              <a:t>• エッジ AI デバイス開発の標準環境へ</a:t>
            </a:r>
          </a:p>
        </p:txBody>
      </p:sp>
      <p:sp>
        <p:nvSpPr>
          <p:cNvPr id="33" name="Rectangle 32"/>
          <p:cNvSpPr/>
          <p:nvPr/>
        </p:nvSpPr>
        <p:spPr>
          <a:xfrm>
            <a:off x="365760" y="6492240"/>
            <a:ext cx="11338560" cy="109728"/>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365760" y="6492240"/>
            <a:ext cx="11338560" cy="109728"/>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10515600" y="6355080"/>
            <a:ext cx="1645920" cy="320040"/>
          </a:xfrm>
          <a:prstGeom prst="rect">
            <a:avLst/>
          </a:prstGeom>
          <a:noFill/>
        </p:spPr>
        <p:txBody>
          <a:bodyPr wrap="square">
            <a:spAutoFit/>
          </a:bodyPr>
          <a:lstStyle/>
          <a:p>
            <a:pPr algn="l"/>
            <a:r>
              <a:rPr sz="1200" b="0" i="0">
                <a:solidFill>
                  <a:srgbClr val="00C8FF"/>
                </a:solidFill>
                <a:latin typeface="Arial"/>
              </a:rPr>
              <a:t>→ 時間軸</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2188952" cy="256032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88952" cy="109728"/>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0" y="2560320"/>
            <a:ext cx="12188952"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457200" y="137160"/>
            <a:ext cx="4572000" cy="457200"/>
          </a:xfrm>
          <a:prstGeom prst="rect">
            <a:avLst/>
          </a:prstGeom>
          <a:noFill/>
        </p:spPr>
        <p:txBody>
          <a:bodyPr wrap="square">
            <a:spAutoFit/>
          </a:bodyPr>
          <a:lstStyle/>
          <a:p>
            <a:pPr algn="l"/>
            <a:r>
              <a:rPr sz="1200" b="1" i="0">
                <a:solidFill>
                  <a:srgbClr val="00C8FF"/>
                </a:solidFill>
                <a:latin typeface="Arial"/>
              </a:rPr>
              <a:t>09  まとめ</a:t>
            </a:r>
          </a:p>
        </p:txBody>
      </p:sp>
      <p:sp>
        <p:nvSpPr>
          <p:cNvPr id="6" name="TextBox 5"/>
          <p:cNvSpPr txBox="1"/>
          <p:nvPr/>
        </p:nvSpPr>
        <p:spPr>
          <a:xfrm>
            <a:off x="457200" y="502920"/>
            <a:ext cx="10972800" cy="731520"/>
          </a:xfrm>
          <a:prstGeom prst="rect">
            <a:avLst/>
          </a:prstGeom>
          <a:noFill/>
        </p:spPr>
        <p:txBody>
          <a:bodyPr wrap="square">
            <a:spAutoFit/>
          </a:bodyPr>
          <a:lstStyle/>
          <a:p>
            <a:pPr algn="ctr"/>
            <a:r>
              <a:rPr sz="2800" b="1" i="0">
                <a:solidFill>
                  <a:srgbClr val="FFFFFF"/>
                </a:solidFill>
                <a:latin typeface="Arial"/>
              </a:rPr>
              <a:t>ExperimentalDevEnv が提供する価値</a:t>
            </a:r>
          </a:p>
        </p:txBody>
      </p:sp>
      <p:sp>
        <p:nvSpPr>
          <p:cNvPr id="7" name="TextBox 6"/>
          <p:cNvSpPr txBox="1"/>
          <p:nvPr/>
        </p:nvSpPr>
        <p:spPr>
          <a:xfrm>
            <a:off x="457200" y="1280160"/>
            <a:ext cx="11247120" cy="1005840"/>
          </a:xfrm>
          <a:prstGeom prst="rect">
            <a:avLst/>
          </a:prstGeom>
          <a:noFill/>
        </p:spPr>
        <p:txBody>
          <a:bodyPr wrap="square">
            <a:spAutoFit/>
          </a:bodyPr>
          <a:lstStyle/>
          <a:p>
            <a:pPr algn="ctr"/>
            <a:r>
              <a:rPr sz="1600" b="0" i="0">
                <a:solidFill>
                  <a:srgbClr val="B0C4DE"/>
                </a:solidFill>
                <a:latin typeface="Arial"/>
              </a:rPr>
              <a:t>クラウドで完結する組み込み開発パイプラインにより、
ハードウェアへの依存を排除しながら本物の組み込みソフトウェアを開発・検証できる</a:t>
            </a:r>
          </a:p>
        </p:txBody>
      </p:sp>
      <p:sp>
        <p:nvSpPr>
          <p:cNvPr id="8" name="Rectangle 7"/>
          <p:cNvSpPr/>
          <p:nvPr/>
        </p:nvSpPr>
        <p:spPr>
          <a:xfrm>
            <a:off x="457200" y="2834640"/>
            <a:ext cx="2606040" cy="256032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2834640"/>
            <a:ext cx="2606040" cy="91440"/>
          </a:xfrm>
          <a:prstGeom prst="rect">
            <a:avLst/>
          </a:prstGeom>
          <a:solidFill>
            <a:srgbClr val="00C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3017520"/>
            <a:ext cx="2331720" cy="548640"/>
          </a:xfrm>
          <a:prstGeom prst="rect">
            <a:avLst/>
          </a:prstGeom>
          <a:noFill/>
        </p:spPr>
        <p:txBody>
          <a:bodyPr wrap="square">
            <a:spAutoFit/>
          </a:bodyPr>
          <a:lstStyle/>
          <a:p>
            <a:pPr algn="ctr"/>
            <a:r>
              <a:rPr sz="1600" b="1" i="0">
                <a:solidFill>
                  <a:srgbClr val="00C8FF"/>
                </a:solidFill>
                <a:latin typeface="Arial"/>
              </a:rPr>
              <a:t>🕐  開発速度 10×</a:t>
            </a:r>
          </a:p>
        </p:txBody>
      </p:sp>
      <p:sp>
        <p:nvSpPr>
          <p:cNvPr id="11" name="TextBox 10"/>
          <p:cNvSpPr txBox="1"/>
          <p:nvPr/>
        </p:nvSpPr>
        <p:spPr>
          <a:xfrm>
            <a:off x="594360" y="3657600"/>
            <a:ext cx="2331720" cy="1371600"/>
          </a:xfrm>
          <a:prstGeom prst="rect">
            <a:avLst/>
          </a:prstGeom>
          <a:noFill/>
        </p:spPr>
        <p:txBody>
          <a:bodyPr wrap="square">
            <a:spAutoFit/>
          </a:bodyPr>
          <a:lstStyle/>
          <a:p>
            <a:pPr algn="ctr"/>
            <a:r>
              <a:rPr sz="1300" b="0" i="0">
                <a:solidFill>
                  <a:srgbClr val="B0C4DE"/>
                </a:solidFill>
                <a:latin typeface="Arial"/>
              </a:rPr>
              <a:t>ハード依存ゼロで
即日開発開始</a:t>
            </a:r>
          </a:p>
        </p:txBody>
      </p:sp>
      <p:sp>
        <p:nvSpPr>
          <p:cNvPr id="12" name="Rectangle 11"/>
          <p:cNvSpPr/>
          <p:nvPr/>
        </p:nvSpPr>
        <p:spPr>
          <a:xfrm>
            <a:off x="3291840" y="2834640"/>
            <a:ext cx="2606040" cy="256032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3291840" y="2834640"/>
            <a:ext cx="2606040" cy="914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29000" y="3017520"/>
            <a:ext cx="2331720" cy="548640"/>
          </a:xfrm>
          <a:prstGeom prst="rect">
            <a:avLst/>
          </a:prstGeom>
          <a:noFill/>
        </p:spPr>
        <p:txBody>
          <a:bodyPr wrap="square">
            <a:spAutoFit/>
          </a:bodyPr>
          <a:lstStyle/>
          <a:p>
            <a:pPr algn="ctr"/>
            <a:r>
              <a:rPr sz="1600" b="1" i="0">
                <a:solidFill>
                  <a:srgbClr val="7C3AED"/>
                </a:solidFill>
                <a:latin typeface="Arial"/>
              </a:rPr>
              <a:t>🔒  品質向上</a:t>
            </a:r>
          </a:p>
        </p:txBody>
      </p:sp>
      <p:sp>
        <p:nvSpPr>
          <p:cNvPr id="15" name="TextBox 14"/>
          <p:cNvSpPr txBox="1"/>
          <p:nvPr/>
        </p:nvSpPr>
        <p:spPr>
          <a:xfrm>
            <a:off x="3429000" y="3657600"/>
            <a:ext cx="2331720" cy="1371600"/>
          </a:xfrm>
          <a:prstGeom prst="rect">
            <a:avLst/>
          </a:prstGeom>
          <a:noFill/>
        </p:spPr>
        <p:txBody>
          <a:bodyPr wrap="square">
            <a:spAutoFit/>
          </a:bodyPr>
          <a:lstStyle/>
          <a:p>
            <a:pPr algn="ctr"/>
            <a:r>
              <a:rPr sz="1300" b="0" i="0">
                <a:solidFill>
                  <a:srgbClr val="B0C4DE"/>
                </a:solidFill>
                <a:latin typeface="Arial"/>
              </a:rPr>
              <a:t>クラウド CI/CD で
自動テスト</a:t>
            </a:r>
          </a:p>
        </p:txBody>
      </p:sp>
      <p:sp>
        <p:nvSpPr>
          <p:cNvPr id="16" name="Rectangle 15"/>
          <p:cNvSpPr/>
          <p:nvPr/>
        </p:nvSpPr>
        <p:spPr>
          <a:xfrm>
            <a:off x="6126480" y="2834640"/>
            <a:ext cx="2606040" cy="256032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2834640"/>
            <a:ext cx="2606040" cy="91440"/>
          </a:xfrm>
          <a:prstGeom prst="rect">
            <a:avLst/>
          </a:prstGeom>
          <a:solidFill>
            <a:srgbClr val="00E09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3017520"/>
            <a:ext cx="2331720" cy="548640"/>
          </a:xfrm>
          <a:prstGeom prst="rect">
            <a:avLst/>
          </a:prstGeom>
          <a:noFill/>
        </p:spPr>
        <p:txBody>
          <a:bodyPr wrap="square">
            <a:spAutoFit/>
          </a:bodyPr>
          <a:lstStyle/>
          <a:p>
            <a:pPr algn="ctr"/>
            <a:r>
              <a:rPr sz="1600" b="1" i="0">
                <a:solidFill>
                  <a:srgbClr val="00E09E"/>
                </a:solidFill>
                <a:latin typeface="Arial"/>
              </a:rPr>
              <a:t>💰  コスト削減</a:t>
            </a:r>
          </a:p>
        </p:txBody>
      </p:sp>
      <p:sp>
        <p:nvSpPr>
          <p:cNvPr id="19" name="TextBox 18"/>
          <p:cNvSpPr txBox="1"/>
          <p:nvPr/>
        </p:nvSpPr>
        <p:spPr>
          <a:xfrm>
            <a:off x="6263640" y="3657600"/>
            <a:ext cx="2331720" cy="1371600"/>
          </a:xfrm>
          <a:prstGeom prst="rect">
            <a:avLst/>
          </a:prstGeom>
          <a:noFill/>
        </p:spPr>
        <p:txBody>
          <a:bodyPr wrap="square">
            <a:spAutoFit/>
          </a:bodyPr>
          <a:lstStyle/>
          <a:p>
            <a:pPr algn="ctr"/>
            <a:r>
              <a:rPr sz="1300" b="0" i="0">
                <a:solidFill>
                  <a:srgbClr val="B0C4DE"/>
                </a:solidFill>
                <a:latin typeface="Arial"/>
              </a:rPr>
              <a:t>テスト機材費・
管理コストを圧縮</a:t>
            </a:r>
          </a:p>
        </p:txBody>
      </p:sp>
      <p:sp>
        <p:nvSpPr>
          <p:cNvPr id="20" name="Rectangle 19"/>
          <p:cNvSpPr/>
          <p:nvPr/>
        </p:nvSpPr>
        <p:spPr>
          <a:xfrm>
            <a:off x="8961120" y="2834640"/>
            <a:ext cx="2606040" cy="2560320"/>
          </a:xfrm>
          <a:prstGeom prst="rect">
            <a:avLst/>
          </a:prstGeom>
          <a:solidFill>
            <a:srgbClr val="1A2A4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961120" y="2834640"/>
            <a:ext cx="2606040" cy="9144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098280" y="3017520"/>
            <a:ext cx="2331720" cy="548640"/>
          </a:xfrm>
          <a:prstGeom prst="rect">
            <a:avLst/>
          </a:prstGeom>
          <a:noFill/>
        </p:spPr>
        <p:txBody>
          <a:bodyPr wrap="square">
            <a:spAutoFit/>
          </a:bodyPr>
          <a:lstStyle/>
          <a:p>
            <a:pPr algn="ctr"/>
            <a:r>
              <a:rPr sz="1600" b="1" i="0">
                <a:solidFill>
                  <a:srgbClr val="FF6B35"/>
                </a:solidFill>
                <a:latin typeface="Arial"/>
              </a:rPr>
              <a:t>🤖  AI 対応</a:t>
            </a:r>
          </a:p>
        </p:txBody>
      </p:sp>
      <p:sp>
        <p:nvSpPr>
          <p:cNvPr id="23" name="TextBox 22"/>
          <p:cNvSpPr txBox="1"/>
          <p:nvPr/>
        </p:nvSpPr>
        <p:spPr>
          <a:xfrm>
            <a:off x="9098280" y="3657600"/>
            <a:ext cx="2331720" cy="1371600"/>
          </a:xfrm>
          <a:prstGeom prst="rect">
            <a:avLst/>
          </a:prstGeom>
          <a:noFill/>
        </p:spPr>
        <p:txBody>
          <a:bodyPr wrap="square">
            <a:spAutoFit/>
          </a:bodyPr>
          <a:lstStyle/>
          <a:p>
            <a:pPr algn="ctr"/>
            <a:r>
              <a:rPr sz="1300" b="0" i="0">
                <a:solidFill>
                  <a:srgbClr val="B0C4DE"/>
                </a:solidFill>
                <a:latin typeface="Arial"/>
              </a:rPr>
              <a:t>Claude Code と
シームレスに統合</a:t>
            </a:r>
          </a:p>
        </p:txBody>
      </p:sp>
      <p:sp>
        <p:nvSpPr>
          <p:cNvPr id="24" name="TextBox 23"/>
          <p:cNvSpPr txBox="1"/>
          <p:nvPr/>
        </p:nvSpPr>
        <p:spPr>
          <a:xfrm>
            <a:off x="457200" y="5669280"/>
            <a:ext cx="11247120" cy="548640"/>
          </a:xfrm>
          <a:prstGeom prst="rect">
            <a:avLst/>
          </a:prstGeom>
          <a:noFill/>
        </p:spPr>
        <p:txBody>
          <a:bodyPr wrap="square">
            <a:spAutoFit/>
          </a:bodyPr>
          <a:lstStyle/>
          <a:p>
            <a:pPr algn="ctr"/>
            <a:r>
              <a:rPr sz="1800" b="1" i="0">
                <a:solidFill>
                  <a:srgbClr val="FFFFFF"/>
                </a:solidFill>
                <a:latin typeface="Arial"/>
              </a:rPr>
              <a:t>本 PoC をベースに、組み込み開発の新しいスタンダードを共に構築しましょう</a:t>
            </a:r>
          </a:p>
        </p:txBody>
      </p:sp>
      <p:sp>
        <p:nvSpPr>
          <p:cNvPr id="25" name="TextBox 24"/>
          <p:cNvSpPr txBox="1"/>
          <p:nvPr/>
        </p:nvSpPr>
        <p:spPr>
          <a:xfrm>
            <a:off x="457200" y="6355080"/>
            <a:ext cx="11247120" cy="365760"/>
          </a:xfrm>
          <a:prstGeom prst="rect">
            <a:avLst/>
          </a:prstGeom>
          <a:noFill/>
        </p:spPr>
        <p:txBody>
          <a:bodyPr wrap="square">
            <a:spAutoFit/>
          </a:bodyPr>
          <a:lstStyle/>
          <a:p>
            <a:pPr algn="ctr"/>
            <a:r>
              <a:rPr sz="1100" b="0" i="0">
                <a:solidFill>
                  <a:srgbClr val="B0C4DE"/>
                </a:solidFill>
                <a:latin typeface="Arial"/>
              </a:rPr>
              <a:t>ExperimentalDevEnv  |  github.com/thousandsofties/experimentaldevenv</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